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secondes. Une seule phrase : cette annee je vous propose la troisieme generation d'un projet qui tourne depuis deux ans, et cette annee c'est celle ou il devient 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secondes. Insister sur le fait que traverser est le seul moment du trajet ou l'usager n'a aucune information. Ne pas parler d'obstacles : le sujet, c'est la traversee.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La preuve de concept. Assumer l'echec franchement : c'est lui qui justifie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secondes. Le saut porte sur l'intelligence, pas sur le materiel. La limite de latence est ce qui amene GEN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secondes. Deux messages : le calcul passe sur un telephone que l'usager a deja, et on arrete de fabriquer des lunettes. Preciser que la detection marche hors ligne, mais que le guidage exige une liaison de donnees. Les deux boitiers repondent au probleme d'equilibre de la monture. Insister : le telephone etait deja la en GEN 2, mais comme simple relais vers le cloud. En GEN 3 il devient le cerveau.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secondes, la slide pivot. Une phrase par brique, pas plus. Terminer sur les substituts : la vision et le firmware demarrent sur les cartes DFRobot, la navigation sur le M5Stick. Aucun eleve n'est bloque par un 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secondes. Le message qui leve les freins : le materiel est la, rien a braser, et la demo finale ne depend pas de la nouvelle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secondes. Terminer sur l'invitation, pas sur la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hors chrono. A sortir si un eleve demande sur quoi il va entrainer son modele.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hors chrono. A sortir si un eleve demande comment les briques communiquent.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hors chrono. Le benchmark vient du rapport GEN 1. Le point a retenir : tous lisent du texte ou decrivent une scene, aucun ne repond a la question de la traversee.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hors chrono.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pic>
        <p:nvPicPr>
          <p:cNvPr id="2" name="Image 0" descr="glasses_accent.png">    </p:cNvPr>
          <p:cNvPicPr>
            <a:picLocks noChangeAspect="1"/>
          </p:cNvPicPr>
          <p:nvPr/>
        </p:nvPicPr>
        <p:blipFill>
          <a:blip r:embed="rId1"/>
          <a:stretch>
            <a:fillRect/>
          </a:stretch>
        </p:blipFill>
        <p:spPr>
          <a:xfrm>
            <a:off x="7040880" y="2011680"/>
            <a:ext cx="4297680" cy="1682496"/>
          </a:xfrm>
          <a:prstGeom prst="rect">
            <a:avLst/>
          </a:prstGeom>
        </p:spPr>
      </p:pic>
      <p:sp>
        <p:nvSpPr>
          <p:cNvPr id="3" name="Text 0"/>
          <p:cNvSpPr txBox="1"/>
          <p:nvPr/>
        </p:nvSpPr>
        <p:spPr>
          <a:xfrm>
            <a:off x="777240" y="1920240"/>
            <a:ext cx="6035040" cy="1097280"/>
          </a:xfrm>
          <a:prstGeom prst="rect">
            <a:avLst/>
          </a:prstGeom>
          <a:noFill/>
          <a:ln/>
        </p:spPr>
        <p:txBody>
          <a:bodyPr wrap="square" lIns="0" tIns="0" rIns="0" bIns="0" rtlCol="0" anchor="b"/>
          <a:lstStyle/>
          <a:p>
            <a:pPr indent="0" marL="0">
              <a:buNone/>
            </a:pPr>
            <a:r>
              <a:rPr lang="en-US" sz="5200" b="1" dirty="0">
                <a:solidFill>
                  <a:srgbClr val="FFFFFF"/>
                </a:solidFill>
                <a:latin typeface="Cambria" pitchFamily="34" charset="0"/>
                <a:ea typeface="Cambria" pitchFamily="34" charset="-122"/>
                <a:cs typeface="Cambria" pitchFamily="34" charset="-120"/>
              </a:rPr>
              <a:t>CyclopeGEN 3</a:t>
            </a:r>
            <a:endParaRPr lang="en-US" sz="5200" dirty="0"/>
          </a:p>
        </p:txBody>
      </p:sp>
      <p:sp>
        <p:nvSpPr>
          <p:cNvPr id="4" name="Text 1"/>
          <p:cNvSpPr txBox="1"/>
          <p:nvPr/>
        </p:nvSpPr>
        <p:spPr>
          <a:xfrm>
            <a:off x="777240" y="3108960"/>
            <a:ext cx="6035040" cy="822960"/>
          </a:xfrm>
          <a:prstGeom prst="rect">
            <a:avLst/>
          </a:prstGeom>
          <a:noFill/>
          <a:ln/>
        </p:spPr>
        <p:txBody>
          <a:bodyPr wrap="square" lIns="0" tIns="0" rIns="0" bIns="0" rtlCol="0" anchor="t"/>
          <a:lstStyle/>
          <a:p>
            <a:pPr indent="0" marL="0">
              <a:buNone/>
            </a:pPr>
            <a:r>
              <a:rPr lang="en-US" sz="2100" dirty="0">
                <a:solidFill>
                  <a:srgbClr val="00A65A"/>
                </a:solidFill>
                <a:latin typeface="Calibri" pitchFamily="34" charset="0"/>
                <a:ea typeface="Calibri" pitchFamily="34" charset="-122"/>
                <a:cs typeface="Calibri" pitchFamily="34" charset="-120"/>
              </a:rPr>
              <a:t>Des lunettes qui disent où et quand traverser</a:t>
            </a:r>
            <a:endParaRPr lang="en-US" sz="2100" dirty="0"/>
          </a:p>
        </p:txBody>
      </p:sp>
      <p:sp>
        <p:nvSpPr>
          <p:cNvPr id="5" name="Text 2"/>
          <p:cNvSpPr txBox="1"/>
          <p:nvPr/>
        </p:nvSpPr>
        <p:spPr>
          <a:xfrm>
            <a:off x="777240" y="4114800"/>
            <a:ext cx="6035040" cy="365760"/>
          </a:xfrm>
          <a:prstGeom prst="rect">
            <a:avLst/>
          </a:prstGeom>
          <a:noFill/>
          <a:ln/>
        </p:spPr>
        <p:txBody>
          <a:bodyPr wrap="square" lIns="0" tIns="0" rIns="0" bIns="0" rtlCol="0" anchor="ctr"/>
          <a:lstStyle/>
          <a:p>
            <a:pPr indent="0" marL="0">
              <a:buNone/>
            </a:pPr>
            <a:r>
              <a:rPr lang="en-US" sz="1400" dirty="0">
                <a:solidFill>
                  <a:srgbClr val="9AAAB6"/>
                </a:solidFill>
                <a:latin typeface="Calibri" pitchFamily="34" charset="0"/>
                <a:ea typeface="Calibri" pitchFamily="34" charset="-122"/>
                <a:cs typeface="Calibri" pitchFamily="34" charset="-120"/>
              </a:rPr>
              <a:t>Projet longue durée  ·  5e année  ·  Systèmes embarqués</a:t>
            </a:r>
            <a:endParaRPr lang="en-US" sz="1400" dirty="0"/>
          </a:p>
        </p:txBody>
      </p:sp>
      <p:sp>
        <p:nvSpPr>
          <p:cNvPr id="6" name="Text 3"/>
          <p:cNvSpPr txBox="1"/>
          <p:nvPr/>
        </p:nvSpPr>
        <p:spPr>
          <a:xfrm>
            <a:off x="777240" y="4526280"/>
            <a:ext cx="6035040" cy="365760"/>
          </a:xfrm>
          <a:prstGeom prst="rect">
            <a:avLst/>
          </a:prstGeom>
          <a:noFill/>
          <a:ln/>
        </p:spPr>
        <p:txBody>
          <a:bodyPr wrap="square" lIns="0" tIns="0" rIns="0" bIns="0" rtlCol="0" anchor="ctr"/>
          <a:lstStyle/>
          <a:p>
            <a:pPr indent="0" marL="0">
              <a:buNone/>
            </a:pPr>
            <a:r>
              <a:rPr lang="en-US" sz="1400" dirty="0">
                <a:solidFill>
                  <a:srgbClr val="7E909C"/>
                </a:solidFill>
                <a:latin typeface="Calibri" pitchFamily="34" charset="0"/>
                <a:ea typeface="Calibri" pitchFamily="34" charset="-122"/>
                <a:cs typeface="Calibri" pitchFamily="34" charset="-120"/>
              </a:rPr>
              <a:t>Proposé par : </a:t>
            </a:r>
            <a:pPr indent="0" marL="0">
              <a:buNone/>
            </a:pPr>
            <a:r>
              <a:rPr lang="en-US" sz="1400" b="1" dirty="0">
                <a:solidFill>
                  <a:srgbClr val="9AAAB6"/>
                </a:solidFill>
                <a:latin typeface="Calibri" pitchFamily="34" charset="0"/>
                <a:ea typeface="Calibri" pitchFamily="34" charset="-122"/>
                <a:cs typeface="Calibri" pitchFamily="34" charset="-120"/>
              </a:rPr>
              <a:t>Amine Khettat  ·  BLIND SYSTEMS</a:t>
            </a:r>
            <a:endParaRPr lang="en-US" sz="1400" dirty="0"/>
          </a:p>
        </p:txBody>
      </p:sp>
      <p:sp>
        <p:nvSpPr>
          <p:cNvPr id="7" name="Text 4"/>
          <p:cNvSpPr txBox="1"/>
          <p:nvPr/>
        </p:nvSpPr>
        <p:spPr>
          <a:xfrm>
            <a:off x="777240" y="4956048"/>
            <a:ext cx="6309360" cy="365760"/>
          </a:xfrm>
          <a:prstGeom prst="rect">
            <a:avLst/>
          </a:prstGeom>
          <a:noFill/>
          <a:ln/>
        </p:spPr>
        <p:txBody>
          <a:bodyPr wrap="square" lIns="0" tIns="0" rIns="0" bIns="0" rtlCol="0" anchor="ctr"/>
          <a:lstStyle/>
          <a:p>
            <a:pPr indent="0" marL="0">
              <a:buNone/>
            </a:pPr>
            <a:r>
              <a:rPr lang="en-US" sz="1500" dirty="0">
                <a:solidFill>
                  <a:srgbClr val="7E909C"/>
                </a:solidFill>
                <a:latin typeface="Calibri" pitchFamily="34" charset="0"/>
                <a:ea typeface="Calibri" pitchFamily="34" charset="-122"/>
                <a:cs typeface="Calibri" pitchFamily="34" charset="-120"/>
              </a:rPr>
              <a:t>E-mail : </a:t>
            </a:r>
            <a:pPr indent="0" marL="0">
              <a:buNone/>
            </a:pPr>
            <a:r>
              <a:rPr lang="en-US" sz="1500" b="1" dirty="0">
                <a:solidFill>
                  <a:srgbClr val="00A65A"/>
                </a:solidFill>
                <a:latin typeface="Calibri" pitchFamily="34" charset="0"/>
                <a:ea typeface="Calibri" pitchFamily="34" charset="-122"/>
                <a:cs typeface="Calibri" pitchFamily="34" charset="-120"/>
              </a:rPr>
              <a:t>contact@blindsystems.org  ·  www.blindsystems.org</a:t>
            </a:r>
            <a:endParaRPr lang="en-US" sz="1500" dirty="0"/>
          </a:p>
        </p:txBody>
      </p:sp>
      <p:pic>
        <p:nvPicPr>
          <p:cNvPr id="8" name="Image 1" descr="logo_blindsystems.png">    </p:cNvPr>
          <p:cNvPicPr>
            <a:picLocks noChangeAspect="1"/>
          </p:cNvPicPr>
          <p:nvPr/>
        </p:nvPicPr>
        <p:blipFill>
          <a:blip r:embed="rId2"/>
          <a:stretch>
            <a:fillRect/>
          </a:stretch>
        </p:blipFill>
        <p:spPr>
          <a:xfrm>
            <a:off x="10497312" y="5971032"/>
            <a:ext cx="932688" cy="621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Le moment le plus dangereux est le moins outillé</a:t>
            </a:r>
            <a:endParaRPr lang="en-US" sz="3200" dirty="0"/>
          </a:p>
        </p:txBody>
      </p:sp>
      <p:sp>
        <p:nvSpPr>
          <p:cNvPr id="3" name="Shape 1"/>
          <p:cNvSpPr/>
          <p:nvPr/>
        </p:nvSpPr>
        <p:spPr>
          <a:xfrm>
            <a:off x="822960" y="1783080"/>
            <a:ext cx="658368" cy="658368"/>
          </a:xfrm>
          <a:prstGeom prst="ellipse">
            <a:avLst/>
          </a:prstGeom>
          <a:solidFill>
            <a:srgbClr val="D8E0E5"/>
          </a:solidFill>
          <a:ln/>
        </p:spPr>
      </p:sp>
      <p:sp>
        <p:nvSpPr>
          <p:cNvPr id="4" name="Text 2"/>
          <p:cNvSpPr txBox="1"/>
          <p:nvPr/>
        </p:nvSpPr>
        <p:spPr>
          <a:xfrm>
            <a:off x="822960" y="1783080"/>
            <a:ext cx="658368" cy="658368"/>
          </a:xfrm>
          <a:prstGeom prst="rect">
            <a:avLst/>
          </a:prstGeom>
          <a:noFill/>
          <a:ln/>
        </p:spPr>
        <p:txBody>
          <a:bodyPr wrap="square" lIns="0" tIns="0" rIns="0" bIns="0" rtlCol="0" anchor="ctr"/>
          <a:lstStyle/>
          <a:p>
            <a:pPr algn="ctr" indent="0" marL="0">
              <a:buNone/>
            </a:pPr>
            <a:r>
              <a:rPr lang="en-US" sz="2000" b="1" dirty="0">
                <a:solidFill>
                  <a:srgbClr val="5A6B79"/>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691640" y="1783080"/>
            <a:ext cx="6400800" cy="658368"/>
          </a:xfrm>
          <a:prstGeom prst="rect">
            <a:avLst/>
          </a:prstGeom>
          <a:noFill/>
          <a:ln/>
        </p:spPr>
        <p:txBody>
          <a:bodyPr wrap="square" lIns="0" tIns="0" rIns="0" bIns="0" rtlCol="0" anchor="ctr"/>
          <a:lstStyle/>
          <a:p>
            <a:pPr indent="0" marL="0">
              <a:buNone/>
            </a:pPr>
            <a:r>
              <a:rPr lang="en-US" sz="2000" b="1" dirty="0">
                <a:solidFill>
                  <a:srgbClr val="1C2530"/>
                </a:solidFill>
                <a:latin typeface="Calibri" pitchFamily="34" charset="0"/>
                <a:ea typeface="Calibri" pitchFamily="34" charset="-122"/>
                <a:cs typeface="Calibri" pitchFamily="34" charset="-120"/>
              </a:rPr>
              <a:t>La canne blanche </a:t>
            </a:r>
            <a:pPr indent="0" marL="0">
              <a:buNone/>
            </a:pPr>
            <a:r>
              <a:rPr lang="en-US" sz="2000" dirty="0">
                <a:solidFill>
                  <a:srgbClr val="5A6B79"/>
                </a:solidFill>
                <a:latin typeface="Calibri" pitchFamily="34" charset="0"/>
                <a:ea typeface="Calibri" pitchFamily="34" charset="-122"/>
                <a:cs typeface="Calibri" pitchFamily="34" charset="-120"/>
              </a:rPr>
              <a:t>dit où poser le pied.</a:t>
            </a:r>
            <a:endParaRPr lang="en-US" sz="2000" dirty="0"/>
          </a:p>
        </p:txBody>
      </p:sp>
      <p:sp>
        <p:nvSpPr>
          <p:cNvPr id="6" name="Shape 4"/>
          <p:cNvSpPr/>
          <p:nvPr/>
        </p:nvSpPr>
        <p:spPr>
          <a:xfrm>
            <a:off x="822960" y="2880360"/>
            <a:ext cx="658368" cy="658368"/>
          </a:xfrm>
          <a:prstGeom prst="ellipse">
            <a:avLst/>
          </a:prstGeom>
          <a:solidFill>
            <a:srgbClr val="D8E0E5"/>
          </a:solidFill>
          <a:ln/>
        </p:spPr>
      </p:sp>
      <p:sp>
        <p:nvSpPr>
          <p:cNvPr id="7" name="Text 5"/>
          <p:cNvSpPr txBox="1"/>
          <p:nvPr/>
        </p:nvSpPr>
        <p:spPr>
          <a:xfrm>
            <a:off x="822960" y="2880360"/>
            <a:ext cx="658368" cy="658368"/>
          </a:xfrm>
          <a:prstGeom prst="rect">
            <a:avLst/>
          </a:prstGeom>
          <a:noFill/>
          <a:ln/>
        </p:spPr>
        <p:txBody>
          <a:bodyPr wrap="square" lIns="0" tIns="0" rIns="0" bIns="0" rtlCol="0" anchor="ctr"/>
          <a:lstStyle/>
          <a:p>
            <a:pPr algn="ctr" indent="0" marL="0">
              <a:buNone/>
            </a:pPr>
            <a:r>
              <a:rPr lang="en-US" sz="2000" b="1" dirty="0">
                <a:solidFill>
                  <a:srgbClr val="5A6B79"/>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691640" y="2880360"/>
            <a:ext cx="6400800" cy="658368"/>
          </a:xfrm>
          <a:prstGeom prst="rect">
            <a:avLst/>
          </a:prstGeom>
          <a:noFill/>
          <a:ln/>
        </p:spPr>
        <p:txBody>
          <a:bodyPr wrap="square" lIns="0" tIns="0" rIns="0" bIns="0" rtlCol="0" anchor="ctr"/>
          <a:lstStyle/>
          <a:p>
            <a:pPr indent="0" marL="0">
              <a:buNone/>
            </a:pPr>
            <a:r>
              <a:rPr lang="en-US" sz="2000" b="1" dirty="0">
                <a:solidFill>
                  <a:srgbClr val="1C2530"/>
                </a:solidFill>
                <a:latin typeface="Calibri" pitchFamily="34" charset="0"/>
                <a:ea typeface="Calibri" pitchFamily="34" charset="-122"/>
                <a:cs typeface="Calibri" pitchFamily="34" charset="-120"/>
              </a:rPr>
              <a:t>Le GPS </a:t>
            </a:r>
            <a:pPr indent="0" marL="0">
              <a:buNone/>
            </a:pPr>
            <a:r>
              <a:rPr lang="en-US" sz="2000" dirty="0">
                <a:solidFill>
                  <a:srgbClr val="5A6B79"/>
                </a:solidFill>
                <a:latin typeface="Calibri" pitchFamily="34" charset="0"/>
                <a:ea typeface="Calibri" pitchFamily="34" charset="-122"/>
                <a:cs typeface="Calibri" pitchFamily="34" charset="-120"/>
              </a:rPr>
              <a:t>dit où aller.</a:t>
            </a:r>
            <a:endParaRPr lang="en-US" sz="2000" dirty="0"/>
          </a:p>
        </p:txBody>
      </p:sp>
      <p:sp>
        <p:nvSpPr>
          <p:cNvPr id="9" name="Shape 7"/>
          <p:cNvSpPr/>
          <p:nvPr/>
        </p:nvSpPr>
        <p:spPr>
          <a:xfrm>
            <a:off x="822960" y="3977640"/>
            <a:ext cx="658368" cy="658368"/>
          </a:xfrm>
          <a:prstGeom prst="ellipse">
            <a:avLst/>
          </a:prstGeom>
          <a:solidFill>
            <a:srgbClr val="00A65A"/>
          </a:solidFill>
          <a:ln/>
        </p:spPr>
      </p:sp>
      <p:sp>
        <p:nvSpPr>
          <p:cNvPr id="10" name="Text 8"/>
          <p:cNvSpPr txBox="1"/>
          <p:nvPr/>
        </p:nvSpPr>
        <p:spPr>
          <a:xfrm>
            <a:off x="822960" y="397764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691640" y="3977640"/>
            <a:ext cx="6400800" cy="658368"/>
          </a:xfrm>
          <a:prstGeom prst="rect">
            <a:avLst/>
          </a:prstGeom>
          <a:noFill/>
          <a:ln/>
        </p:spPr>
        <p:txBody>
          <a:bodyPr wrap="square" lIns="0" tIns="0" rIns="0" bIns="0" rtlCol="0" anchor="ctr"/>
          <a:lstStyle/>
          <a:p>
            <a:pPr indent="0" marL="0">
              <a:buNone/>
            </a:pPr>
            <a:r>
              <a:rPr lang="en-US" sz="2000" b="1" dirty="0">
                <a:solidFill>
                  <a:srgbClr val="1C2530"/>
                </a:solidFill>
                <a:latin typeface="Calibri" pitchFamily="34" charset="0"/>
                <a:ea typeface="Calibri" pitchFamily="34" charset="-122"/>
                <a:cs typeface="Calibri" pitchFamily="34" charset="-120"/>
              </a:rPr>
              <a:t>Rien, aujourd'hui, </a:t>
            </a:r>
            <a:pPr indent="0" marL="0">
              <a:buNone/>
            </a:pPr>
            <a:r>
              <a:rPr lang="en-US" sz="2000" dirty="0">
                <a:solidFill>
                  <a:srgbClr val="00A65A"/>
                </a:solidFill>
                <a:latin typeface="Calibri" pitchFamily="34" charset="0"/>
                <a:ea typeface="Calibri" pitchFamily="34" charset="-122"/>
                <a:cs typeface="Calibri" pitchFamily="34" charset="-120"/>
              </a:rPr>
              <a:t>ne dit où ni quand traverser.</a:t>
            </a:r>
            <a:endParaRPr lang="en-US" sz="2000" dirty="0"/>
          </a:p>
        </p:txBody>
      </p:sp>
      <p:pic>
        <p:nvPicPr>
          <p:cNvPr id="12" name="Image 0" descr="illus_gen3.png">    </p:cNvPr>
          <p:cNvPicPr>
            <a:picLocks noChangeAspect="1"/>
          </p:cNvPicPr>
          <p:nvPr/>
        </p:nvPicPr>
        <p:blipFill>
          <a:blip r:embed="rId1"/>
          <a:stretch>
            <a:fillRect/>
          </a:stretch>
        </p:blipFill>
        <p:spPr>
          <a:xfrm>
            <a:off x="8800243" y="1554480"/>
            <a:ext cx="1876235" cy="3063240"/>
          </a:xfrm>
          <a:prstGeom prst="rect">
            <a:avLst/>
          </a:prstGeom>
        </p:spPr>
      </p:pic>
      <p:sp>
        <p:nvSpPr>
          <p:cNvPr id="13" name="Text 10"/>
          <p:cNvSpPr txBox="1"/>
          <p:nvPr/>
        </p:nvSpPr>
        <p:spPr>
          <a:xfrm>
            <a:off x="822960" y="5257800"/>
            <a:ext cx="10515600" cy="548640"/>
          </a:xfrm>
          <a:prstGeom prst="rect">
            <a:avLst/>
          </a:prstGeom>
          <a:noFill/>
          <a:ln/>
        </p:spPr>
        <p:txBody>
          <a:bodyPr wrap="square" lIns="0" tIns="0" rIns="0" bIns="0" rtlCol="0" anchor="ctr"/>
          <a:lstStyle/>
          <a:p>
            <a:pPr indent="0" marL="0">
              <a:buNone/>
            </a:pPr>
            <a:r>
              <a:rPr lang="en-US" sz="1900" b="1" i="1" dirty="0">
                <a:solidFill>
                  <a:srgbClr val="00814A"/>
                </a:solidFill>
                <a:latin typeface="Calibri" pitchFamily="34" charset="0"/>
                <a:ea typeface="Calibri" pitchFamily="34" charset="-122"/>
                <a:cs typeface="Calibri" pitchFamily="34" charset="-120"/>
              </a:rPr>
              <a:t>Cyclope regarde la rue et le dit à voix haute.</a:t>
            </a:r>
            <a:endParaRPr lang="en-US" sz="1900" dirty="0"/>
          </a:p>
        </p:txBody>
      </p:sp>
      <p:pic>
        <p:nvPicPr>
          <p:cNvPr id="14" name="Image 1" descr="logo_blindsystems.png">    </p:cNvPr>
          <p:cNvPicPr>
            <a:picLocks noChangeAspect="1"/>
          </p:cNvPicPr>
          <p:nvPr/>
        </p:nvPicPr>
        <p:blipFill>
          <a:blip r:embed="rId2"/>
          <a:stretch>
            <a:fillRect/>
          </a:stretch>
        </p:blipFill>
        <p:spPr>
          <a:xfrm>
            <a:off x="10497312" y="5971032"/>
            <a:ext cx="932688" cy="621792"/>
          </a:xfrm>
          <a:prstGeom prst="rect">
            <a:avLst/>
          </a:prstGeom>
        </p:spPr>
      </p:pic>
      <p:sp>
        <p:nvSpPr>
          <p:cNvPr id="15" name="Text 11"/>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6" name="Text 12"/>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411480"/>
            <a:ext cx="868680" cy="868680"/>
          </a:xfrm>
          <a:prstGeom prst="ellipse">
            <a:avLst/>
          </a:prstGeom>
          <a:solidFill>
            <a:srgbClr val="00A65A"/>
          </a:solidFill>
          <a:ln/>
        </p:spPr>
      </p:sp>
      <p:sp>
        <p:nvSpPr>
          <p:cNvPr id="3" name="Text 1"/>
          <p:cNvSpPr txBox="1"/>
          <p:nvPr/>
        </p:nvSpPr>
        <p:spPr>
          <a:xfrm>
            <a:off x="731520" y="411480"/>
            <a:ext cx="868680" cy="86868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1</a:t>
            </a:r>
            <a:endParaRPr lang="en-US" sz="3800" dirty="0"/>
          </a:p>
        </p:txBody>
      </p:sp>
      <p:sp>
        <p:nvSpPr>
          <p:cNvPr id="4" name="Text 2"/>
          <p:cNvSpPr txBox="1"/>
          <p:nvPr/>
        </p:nvSpPr>
        <p:spPr>
          <a:xfrm>
            <a:off x="1810512" y="411480"/>
            <a:ext cx="9601200" cy="868680"/>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GEN 1 — l'ordinateur dans le sac</a:t>
            </a:r>
            <a:endParaRPr lang="en-US" sz="2900" dirty="0"/>
          </a:p>
        </p:txBody>
      </p:sp>
      <p:pic>
        <p:nvPicPr>
          <p:cNvPr id="5" name="Image 0" descr="illus_gen1.png">    </p:cNvPr>
          <p:cNvPicPr>
            <a:picLocks noChangeAspect="1"/>
          </p:cNvPicPr>
          <p:nvPr/>
        </p:nvPicPr>
        <p:blipFill>
          <a:blip r:embed="rId1"/>
          <a:stretch>
            <a:fillRect/>
          </a:stretch>
        </p:blipFill>
        <p:spPr>
          <a:xfrm>
            <a:off x="1472565" y="1444752"/>
            <a:ext cx="1663446" cy="2697480"/>
          </a:xfrm>
          <a:prstGeom prst="rect">
            <a:avLst/>
          </a:prstGeom>
        </p:spPr>
      </p:pic>
      <p:sp>
        <p:nvSpPr>
          <p:cNvPr id="6" name="Text 3"/>
          <p:cNvSpPr txBox="1"/>
          <p:nvPr/>
        </p:nvSpPr>
        <p:spPr>
          <a:xfrm>
            <a:off x="658368" y="4187952"/>
            <a:ext cx="3291840" cy="320040"/>
          </a:xfrm>
          <a:prstGeom prst="rect">
            <a:avLst/>
          </a:prstGeom>
          <a:noFill/>
          <a:ln/>
        </p:spPr>
        <p:txBody>
          <a:bodyPr wrap="square" lIns="0" tIns="0" rIns="0" bIns="0" rtlCol="0" anchor="ctr"/>
          <a:lstStyle/>
          <a:p>
            <a:pPr algn="ctr" indent="0" marL="0">
              <a:buNone/>
            </a:pPr>
            <a:r>
              <a:rPr lang="en-US" sz="1400" b="1" dirty="0">
                <a:solidFill>
                  <a:srgbClr val="5A6B79"/>
                </a:solidFill>
                <a:latin typeface="Calibri" pitchFamily="34" charset="0"/>
                <a:ea typeface="Calibri" pitchFamily="34" charset="-122"/>
                <a:cs typeface="Calibri" pitchFamily="34" charset="-120"/>
              </a:rPr>
              <a:t>2024 – 2025</a:t>
            </a:r>
            <a:endParaRPr lang="en-US" sz="1400" dirty="0"/>
          </a:p>
        </p:txBody>
      </p:sp>
      <p:sp>
        <p:nvSpPr>
          <p:cNvPr id="7" name="Shape 4"/>
          <p:cNvSpPr/>
          <p:nvPr/>
        </p:nvSpPr>
        <p:spPr>
          <a:xfrm>
            <a:off x="4069080" y="1481328"/>
            <a:ext cx="4160520" cy="3200400"/>
          </a:xfrm>
          <a:prstGeom prst="roundRect">
            <a:avLst>
              <a:gd name="adj" fmla="val 3429"/>
            </a:avLst>
          </a:prstGeom>
          <a:solidFill>
            <a:srgbClr val="F1F4F6"/>
          </a:solidFill>
          <a:ln/>
        </p:spPr>
      </p:sp>
      <p:sp>
        <p:nvSpPr>
          <p:cNvPr id="8" name="Text 5"/>
          <p:cNvSpPr txBox="1"/>
          <p:nvPr/>
        </p:nvSpPr>
        <p:spPr>
          <a:xfrm>
            <a:off x="4370832" y="1783080"/>
            <a:ext cx="3611880" cy="26974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Lunettes imprimées en 3D, branches non pliables, compartiment frontal abritant l'ESP32-CAM</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Câble d'alimentation apparent le long de l'oreille, jusqu'au sac à dos</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Raspberry Pi 5 et batterie dans le sac : flux MJPEG, YOLOv11, enregistrement vidéo</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Logique d'une caméra de sécurité que l'on porte sur soi</a:t>
            </a:r>
            <a:endParaRPr lang="en-US" sz="1350" dirty="0"/>
          </a:p>
        </p:txBody>
      </p:sp>
      <p:sp>
        <p:nvSpPr>
          <p:cNvPr id="9" name="Shape 6"/>
          <p:cNvSpPr/>
          <p:nvPr/>
        </p:nvSpPr>
        <p:spPr>
          <a:xfrm>
            <a:off x="8503920" y="1481328"/>
            <a:ext cx="2926080" cy="3200400"/>
          </a:xfrm>
          <a:prstGeom prst="roundRect">
            <a:avLst>
              <a:gd name="adj" fmla="val 3750"/>
            </a:avLst>
          </a:prstGeom>
          <a:solidFill>
            <a:srgbClr val="FBEFEC"/>
          </a:solidFill>
          <a:ln/>
        </p:spPr>
      </p:sp>
      <p:sp>
        <p:nvSpPr>
          <p:cNvPr id="10" name="Text 7"/>
          <p:cNvSpPr txBox="1"/>
          <p:nvPr/>
        </p:nvSpPr>
        <p:spPr>
          <a:xfrm>
            <a:off x="8778240" y="1737360"/>
            <a:ext cx="2377440" cy="320040"/>
          </a:xfrm>
          <a:prstGeom prst="rect">
            <a:avLst/>
          </a:prstGeom>
          <a:noFill/>
          <a:ln/>
        </p:spPr>
        <p:txBody>
          <a:bodyPr wrap="square" lIns="0" tIns="0" rIns="0" bIns="0" rtlCol="0" anchor="ctr"/>
          <a:lstStyle/>
          <a:p>
            <a:pPr indent="0" marL="0">
              <a:buNone/>
            </a:pPr>
            <a:r>
              <a:rPr lang="en-US" sz="1400" b="1" dirty="0">
                <a:solidFill>
                  <a:srgbClr val="C4402E"/>
                </a:solidFill>
                <a:latin typeface="Calibri" pitchFamily="34" charset="0"/>
                <a:ea typeface="Calibri" pitchFamily="34" charset="-122"/>
                <a:cs typeface="Calibri" pitchFamily="34" charset="-120"/>
              </a:rPr>
              <a:t>La limite</a:t>
            </a:r>
            <a:endParaRPr lang="en-US" sz="1400" dirty="0"/>
          </a:p>
        </p:txBody>
      </p:sp>
      <p:sp>
        <p:nvSpPr>
          <p:cNvPr id="11" name="Text 8"/>
          <p:cNvSpPr txBox="1"/>
          <p:nvPr/>
        </p:nvSpPr>
        <p:spPr>
          <a:xfrm>
            <a:off x="8778240" y="2157984"/>
            <a:ext cx="2377440" cy="23774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Des lunettes inconfortables, un câble qui pend, un sac à dos obligatoire.</a:t>
            </a:r>
            <a:endParaRPr lang="en-US" sz="1350" dirty="0"/>
          </a:p>
          <a:p>
            <a:pPr indent="0" marL="0">
              <a:buNone/>
            </a:pPr>
            <a:endParaRPr lang="en-US" sz="1350" dirty="0"/>
          </a:p>
          <a:p>
            <a:pPr indent="0" marL="0">
              <a:buNone/>
            </a:pPr>
            <a:r>
              <a:rPr lang="en-US" sz="1350" dirty="0">
                <a:solidFill>
                  <a:srgbClr val="1C2530"/>
                </a:solidFill>
                <a:latin typeface="Calibri" pitchFamily="34" charset="0"/>
                <a:ea typeface="Calibri" pitchFamily="34" charset="-122"/>
                <a:cs typeface="Calibri" pitchFamily="34" charset="-120"/>
              </a:rPr>
              <a:t>Prototype lourd, non commercialisable.</a:t>
            </a:r>
            <a:endParaRPr lang="en-US" sz="1350" dirty="0"/>
          </a:p>
        </p:txBody>
      </p:sp>
      <p:sp>
        <p:nvSpPr>
          <p:cNvPr id="12" name="Text 9"/>
          <p:cNvSpPr txBox="1"/>
          <p:nvPr/>
        </p:nvSpPr>
        <p:spPr>
          <a:xfrm>
            <a:off x="731520" y="4983480"/>
            <a:ext cx="10698480" cy="502920"/>
          </a:xfrm>
          <a:prstGeom prst="rect">
            <a:avLst/>
          </a:prstGeom>
          <a:noFill/>
          <a:ln/>
        </p:spPr>
        <p:txBody>
          <a:bodyPr wrap="square" lIns="0" tIns="0" rIns="0" bIns="0" rtlCol="0" anchor="ctr"/>
          <a:lstStyle/>
          <a:p>
            <a:pPr indent="0" marL="0">
              <a:buNone/>
            </a:pPr>
            <a:r>
              <a:rPr lang="en-US" sz="1700" b="1" i="1" dirty="0">
                <a:solidFill>
                  <a:srgbClr val="00814A"/>
                </a:solidFill>
                <a:latin typeface="Calibri" pitchFamily="34" charset="0"/>
                <a:ea typeface="Calibri" pitchFamily="34" charset="-122"/>
                <a:cs typeface="Calibri" pitchFamily="34" charset="-120"/>
              </a:rPr>
              <a:t>Le calcul était dans un sac à dos. Il fallait l'en sortir.</a:t>
            </a:r>
            <a:endParaRPr lang="en-US" sz="1700" dirty="0"/>
          </a:p>
        </p:txBody>
      </p:sp>
      <p:pic>
        <p:nvPicPr>
          <p:cNvPr id="13" name="Image 1" descr="logo_blindsystems.png">    </p:cNvPr>
          <p:cNvPicPr>
            <a:picLocks noChangeAspect="1"/>
          </p:cNvPicPr>
          <p:nvPr/>
        </p:nvPicPr>
        <p:blipFill>
          <a:blip r:embed="rId2"/>
          <a:stretch>
            <a:fillRect/>
          </a:stretch>
        </p:blipFill>
        <p:spPr>
          <a:xfrm>
            <a:off x="10497312" y="5971032"/>
            <a:ext cx="932688" cy="621792"/>
          </a:xfrm>
          <a:prstGeom prst="rect">
            <a:avLst/>
          </a:prstGeom>
        </p:spPr>
      </p:pic>
      <p:sp>
        <p:nvSpPr>
          <p:cNvPr id="14" name="Text 10"/>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5" name="Text 11"/>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411480"/>
            <a:ext cx="868680" cy="868680"/>
          </a:xfrm>
          <a:prstGeom prst="ellipse">
            <a:avLst/>
          </a:prstGeom>
          <a:solidFill>
            <a:srgbClr val="00A65A"/>
          </a:solidFill>
          <a:ln/>
        </p:spPr>
      </p:sp>
      <p:sp>
        <p:nvSpPr>
          <p:cNvPr id="3" name="Text 1"/>
          <p:cNvSpPr txBox="1"/>
          <p:nvPr/>
        </p:nvSpPr>
        <p:spPr>
          <a:xfrm>
            <a:off x="731520" y="411480"/>
            <a:ext cx="868680" cy="86868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2</a:t>
            </a:r>
            <a:endParaRPr lang="en-US" sz="3800" dirty="0"/>
          </a:p>
        </p:txBody>
      </p:sp>
      <p:sp>
        <p:nvSpPr>
          <p:cNvPr id="4" name="Text 2"/>
          <p:cNvSpPr txBox="1"/>
          <p:nvPr/>
        </p:nvSpPr>
        <p:spPr>
          <a:xfrm>
            <a:off x="1810512" y="411480"/>
            <a:ext cx="9601200" cy="868680"/>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GEN 2 — le serveur dans le cloud</a:t>
            </a:r>
            <a:endParaRPr lang="en-US" sz="2900" dirty="0"/>
          </a:p>
        </p:txBody>
      </p:sp>
      <p:pic>
        <p:nvPicPr>
          <p:cNvPr id="5" name="Image 0" descr="illus_gen2.png">    </p:cNvPr>
          <p:cNvPicPr>
            <a:picLocks noChangeAspect="1"/>
          </p:cNvPicPr>
          <p:nvPr/>
        </p:nvPicPr>
        <p:blipFill>
          <a:blip r:embed="rId1"/>
          <a:stretch>
            <a:fillRect/>
          </a:stretch>
        </p:blipFill>
        <p:spPr>
          <a:xfrm>
            <a:off x="1404004" y="1444752"/>
            <a:ext cx="1800568" cy="2697480"/>
          </a:xfrm>
          <a:prstGeom prst="rect">
            <a:avLst/>
          </a:prstGeom>
        </p:spPr>
      </p:pic>
      <p:sp>
        <p:nvSpPr>
          <p:cNvPr id="6" name="Text 3"/>
          <p:cNvSpPr txBox="1"/>
          <p:nvPr/>
        </p:nvSpPr>
        <p:spPr>
          <a:xfrm>
            <a:off x="658368" y="4187952"/>
            <a:ext cx="3291840" cy="320040"/>
          </a:xfrm>
          <a:prstGeom prst="rect">
            <a:avLst/>
          </a:prstGeom>
          <a:noFill/>
          <a:ln/>
        </p:spPr>
        <p:txBody>
          <a:bodyPr wrap="square" lIns="0" tIns="0" rIns="0" bIns="0" rtlCol="0" anchor="ctr"/>
          <a:lstStyle/>
          <a:p>
            <a:pPr algn="ctr" indent="0" marL="0">
              <a:buNone/>
            </a:pPr>
            <a:r>
              <a:rPr lang="en-US" sz="1400" b="1" dirty="0">
                <a:solidFill>
                  <a:srgbClr val="5A6B79"/>
                </a:solidFill>
                <a:latin typeface="Calibri" pitchFamily="34" charset="0"/>
                <a:ea typeface="Calibri" pitchFamily="34" charset="-122"/>
                <a:cs typeface="Calibri" pitchFamily="34" charset="-120"/>
              </a:rPr>
              <a:t>2025 – 2026</a:t>
            </a:r>
            <a:endParaRPr lang="en-US" sz="1400" dirty="0"/>
          </a:p>
        </p:txBody>
      </p:sp>
      <p:sp>
        <p:nvSpPr>
          <p:cNvPr id="7" name="Shape 4"/>
          <p:cNvSpPr/>
          <p:nvPr/>
        </p:nvSpPr>
        <p:spPr>
          <a:xfrm>
            <a:off x="4069080" y="1481328"/>
            <a:ext cx="4160520" cy="3200400"/>
          </a:xfrm>
          <a:prstGeom prst="roundRect">
            <a:avLst>
              <a:gd name="adj" fmla="val 3429"/>
            </a:avLst>
          </a:prstGeom>
          <a:solidFill>
            <a:srgbClr val="F1F4F6"/>
          </a:solidFill>
          <a:ln/>
        </p:spPr>
      </p:sp>
      <p:sp>
        <p:nvSpPr>
          <p:cNvPr id="8" name="Text 5"/>
          <p:cNvSpPr txBox="1"/>
          <p:nvPr/>
        </p:nvSpPr>
        <p:spPr>
          <a:xfrm>
            <a:off x="4370832" y="1783080"/>
            <a:ext cx="3611880" cy="26974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Lunettes 3D avec un compartiment central devant les yeux : la carte et la batterie sont enfin embarquées</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Plus de Raspberry : l'ESP32 parle directement au téléphone, qui sert de point d'accès wifi</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Le téléphone relaie vers l'API d'OpenAI par sa 4G, et la scène est décrite à la voix</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En parallèle : carte DFRobot ESP32-S3, et conception de notre première carte maison</a:t>
            </a:r>
            <a:endParaRPr lang="en-US" sz="1350" dirty="0"/>
          </a:p>
        </p:txBody>
      </p:sp>
      <p:sp>
        <p:nvSpPr>
          <p:cNvPr id="9" name="Shape 6"/>
          <p:cNvSpPr/>
          <p:nvPr/>
        </p:nvSpPr>
        <p:spPr>
          <a:xfrm>
            <a:off x="8503920" y="1481328"/>
            <a:ext cx="2926080" cy="3200400"/>
          </a:xfrm>
          <a:prstGeom prst="roundRect">
            <a:avLst>
              <a:gd name="adj" fmla="val 3750"/>
            </a:avLst>
          </a:prstGeom>
          <a:solidFill>
            <a:srgbClr val="FBEFEC"/>
          </a:solidFill>
          <a:ln/>
        </p:spPr>
      </p:sp>
      <p:sp>
        <p:nvSpPr>
          <p:cNvPr id="10" name="Text 7"/>
          <p:cNvSpPr txBox="1"/>
          <p:nvPr/>
        </p:nvSpPr>
        <p:spPr>
          <a:xfrm>
            <a:off x="8778240" y="1737360"/>
            <a:ext cx="2377440" cy="320040"/>
          </a:xfrm>
          <a:prstGeom prst="rect">
            <a:avLst/>
          </a:prstGeom>
          <a:noFill/>
          <a:ln/>
        </p:spPr>
        <p:txBody>
          <a:bodyPr wrap="square" lIns="0" tIns="0" rIns="0" bIns="0" rtlCol="0" anchor="ctr"/>
          <a:lstStyle/>
          <a:p>
            <a:pPr indent="0" marL="0">
              <a:buNone/>
            </a:pPr>
            <a:r>
              <a:rPr lang="en-US" sz="1400" b="1" dirty="0">
                <a:solidFill>
                  <a:srgbClr val="C4402E"/>
                </a:solidFill>
                <a:latin typeface="Calibri" pitchFamily="34" charset="0"/>
                <a:ea typeface="Calibri" pitchFamily="34" charset="-122"/>
                <a:cs typeface="Calibri" pitchFamily="34" charset="-120"/>
              </a:rPr>
              <a:t>La limite</a:t>
            </a:r>
            <a:endParaRPr lang="en-US" sz="1400" dirty="0"/>
          </a:p>
        </p:txBody>
      </p:sp>
      <p:sp>
        <p:nvSpPr>
          <p:cNvPr id="11" name="Text 8"/>
          <p:cNvSpPr txBox="1"/>
          <p:nvPr/>
        </p:nvSpPr>
        <p:spPr>
          <a:xfrm>
            <a:off x="8778240" y="2157984"/>
            <a:ext cx="2377440" cy="23774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API payante, réseau obligatoire, quelques secondes de latence.</a:t>
            </a:r>
            <a:endParaRPr lang="en-US" sz="1350" dirty="0"/>
          </a:p>
          <a:p>
            <a:pPr indent="0" marL="0">
              <a:buNone/>
            </a:pPr>
            <a:endParaRPr lang="en-US" sz="1350" dirty="0"/>
          </a:p>
          <a:p>
            <a:pPr indent="0" marL="0">
              <a:buNone/>
            </a:pPr>
            <a:r>
              <a:rPr lang="en-US" sz="1350" dirty="0">
                <a:solidFill>
                  <a:srgbClr val="1C2530"/>
                </a:solidFill>
                <a:latin typeface="Calibri" pitchFamily="34" charset="0"/>
                <a:ea typeface="Calibri" pitchFamily="34" charset="-122"/>
                <a:cs typeface="Calibri" pitchFamily="34" charset="-120"/>
              </a:rPr>
              <a:t>Le téléphone n'est qu'un relais : toute l'intelligence est ailleurs.</a:t>
            </a:r>
            <a:endParaRPr lang="en-US" sz="1350" dirty="0"/>
          </a:p>
        </p:txBody>
      </p:sp>
      <p:sp>
        <p:nvSpPr>
          <p:cNvPr id="12" name="Text 9"/>
          <p:cNvSpPr txBox="1"/>
          <p:nvPr/>
        </p:nvSpPr>
        <p:spPr>
          <a:xfrm>
            <a:off x="731520" y="4983480"/>
            <a:ext cx="10698480" cy="502920"/>
          </a:xfrm>
          <a:prstGeom prst="rect">
            <a:avLst/>
          </a:prstGeom>
          <a:noFill/>
          <a:ln/>
        </p:spPr>
        <p:txBody>
          <a:bodyPr wrap="square" lIns="0" tIns="0" rIns="0" bIns="0" rtlCol="0" anchor="ctr"/>
          <a:lstStyle/>
          <a:p>
            <a:pPr indent="0" marL="0">
              <a:buNone/>
            </a:pPr>
            <a:r>
              <a:rPr lang="en-US" sz="1700" b="1" i="1" dirty="0">
                <a:solidFill>
                  <a:srgbClr val="00814A"/>
                </a:solidFill>
                <a:latin typeface="Calibri" pitchFamily="34" charset="0"/>
                <a:ea typeface="Calibri" pitchFamily="34" charset="-122"/>
                <a:cs typeface="Calibri" pitchFamily="34" charset="-120"/>
              </a:rPr>
              <a:t>Le calcul était parti dans le cloud. Il fallait le rapatrier.</a:t>
            </a:r>
            <a:endParaRPr lang="en-US" sz="1700" dirty="0"/>
          </a:p>
        </p:txBody>
      </p:sp>
      <p:pic>
        <p:nvPicPr>
          <p:cNvPr id="13" name="Image 1" descr="logo_blindsystems.png">    </p:cNvPr>
          <p:cNvPicPr>
            <a:picLocks noChangeAspect="1"/>
          </p:cNvPicPr>
          <p:nvPr/>
        </p:nvPicPr>
        <p:blipFill>
          <a:blip r:embed="rId2"/>
          <a:stretch>
            <a:fillRect/>
          </a:stretch>
        </p:blipFill>
        <p:spPr>
          <a:xfrm>
            <a:off x="10497312" y="5971032"/>
            <a:ext cx="932688" cy="621792"/>
          </a:xfrm>
          <a:prstGeom prst="rect">
            <a:avLst/>
          </a:prstGeom>
        </p:spPr>
      </p:pic>
      <p:sp>
        <p:nvSpPr>
          <p:cNvPr id="14" name="Text 10"/>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5" name="Text 11"/>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731520" y="411480"/>
            <a:ext cx="868680" cy="868680"/>
          </a:xfrm>
          <a:prstGeom prst="ellipse">
            <a:avLst/>
          </a:prstGeom>
          <a:solidFill>
            <a:srgbClr val="00A65A"/>
          </a:solidFill>
          <a:ln/>
        </p:spPr>
      </p:sp>
      <p:sp>
        <p:nvSpPr>
          <p:cNvPr id="3" name="Text 1"/>
          <p:cNvSpPr txBox="1"/>
          <p:nvPr/>
        </p:nvSpPr>
        <p:spPr>
          <a:xfrm>
            <a:off x="731520" y="411480"/>
            <a:ext cx="868680" cy="86868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3</a:t>
            </a:r>
            <a:endParaRPr lang="en-US" sz="3800" dirty="0"/>
          </a:p>
        </p:txBody>
      </p:sp>
      <p:sp>
        <p:nvSpPr>
          <p:cNvPr id="4" name="Text 2"/>
          <p:cNvSpPr txBox="1"/>
          <p:nvPr/>
        </p:nvSpPr>
        <p:spPr>
          <a:xfrm>
            <a:off x="1810512" y="411480"/>
            <a:ext cx="9601200" cy="8686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GEN 3 — le téléphone déjà dans la poche</a:t>
            </a:r>
            <a:endParaRPr lang="en-US" sz="2900" dirty="0"/>
          </a:p>
        </p:txBody>
      </p:sp>
      <p:sp>
        <p:nvSpPr>
          <p:cNvPr id="5" name="Shape 3"/>
          <p:cNvSpPr/>
          <p:nvPr/>
        </p:nvSpPr>
        <p:spPr>
          <a:xfrm>
            <a:off x="731520" y="1508760"/>
            <a:ext cx="3108960" cy="1463040"/>
          </a:xfrm>
          <a:prstGeom prst="roundRect">
            <a:avLst>
              <a:gd name="adj" fmla="val 6250"/>
            </a:avLst>
          </a:prstGeom>
          <a:solidFill>
            <a:srgbClr val="26323F"/>
          </a:solidFill>
          <a:ln w="19050">
            <a:solidFill>
              <a:srgbClr val="3C4B59"/>
            </a:solidFill>
            <a:prstDash val="solid"/>
          </a:ln>
        </p:spPr>
      </p:sp>
      <p:sp>
        <p:nvSpPr>
          <p:cNvPr id="6" name="Text 4"/>
          <p:cNvSpPr txBox="1"/>
          <p:nvPr/>
        </p:nvSpPr>
        <p:spPr>
          <a:xfrm>
            <a:off x="914400" y="1645920"/>
            <a:ext cx="274320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Module lunettes</a:t>
            </a:r>
            <a:endParaRPr lang="en-US" sz="1600" dirty="0"/>
          </a:p>
        </p:txBody>
      </p:sp>
      <p:sp>
        <p:nvSpPr>
          <p:cNvPr id="7" name="Text 5"/>
          <p:cNvSpPr txBox="1"/>
          <p:nvPr/>
        </p:nvSpPr>
        <p:spPr>
          <a:xfrm>
            <a:off x="914400" y="2029968"/>
            <a:ext cx="2743200" cy="822960"/>
          </a:xfrm>
          <a:prstGeom prst="rect">
            <a:avLst/>
          </a:prstGeom>
          <a:noFill/>
          <a:ln/>
        </p:spPr>
        <p:txBody>
          <a:bodyPr wrap="square" lIns="0" tIns="0" rIns="0" bIns="0" rtlCol="0" anchor="t"/>
          <a:lstStyle/>
          <a:p>
            <a:pPr indent="0" marL="0">
              <a:buNone/>
            </a:pPr>
            <a:r>
              <a:rPr lang="en-US" sz="1200" dirty="0">
                <a:solidFill>
                  <a:srgbClr val="B9C6D0"/>
                </a:solidFill>
                <a:latin typeface="Calibri" pitchFamily="34" charset="0"/>
                <a:ea typeface="Calibri" pitchFamily="34" charset="-122"/>
                <a:cs typeface="Calibri" pitchFamily="34" charset="-120"/>
              </a:rPr>
              <a:t>Image, audio des commandes,</a:t>
            </a:r>
            <a:endParaRPr lang="en-US" sz="1200" dirty="0"/>
          </a:p>
          <a:p>
            <a:pPr indent="0" marL="0">
              <a:buNone/>
            </a:pPr>
            <a:r>
              <a:rPr lang="en-US" sz="1200" dirty="0">
                <a:solidFill>
                  <a:srgbClr val="B9C6D0"/>
                </a:solidFill>
                <a:latin typeface="Calibri" pitchFamily="34" charset="0"/>
                <a:ea typeface="Calibri" pitchFamily="34" charset="-122"/>
                <a:cs typeface="Calibri" pitchFamily="34" charset="-120"/>
              </a:rPr>
              <a:t>deux boutons</a:t>
            </a:r>
            <a:endParaRPr lang="en-US" sz="1200" dirty="0"/>
          </a:p>
        </p:txBody>
      </p:sp>
      <p:sp>
        <p:nvSpPr>
          <p:cNvPr id="8" name="Shape 6"/>
          <p:cNvSpPr/>
          <p:nvPr/>
        </p:nvSpPr>
        <p:spPr>
          <a:xfrm>
            <a:off x="4526280" y="1508760"/>
            <a:ext cx="3108960" cy="1463040"/>
          </a:xfrm>
          <a:prstGeom prst="roundRect">
            <a:avLst>
              <a:gd name="adj" fmla="val 6250"/>
            </a:avLst>
          </a:prstGeom>
          <a:solidFill>
            <a:srgbClr val="26323F"/>
          </a:solidFill>
          <a:ln w="19050">
            <a:solidFill>
              <a:srgbClr val="00A65A"/>
            </a:solidFill>
            <a:prstDash val="solid"/>
          </a:ln>
        </p:spPr>
      </p:sp>
      <p:sp>
        <p:nvSpPr>
          <p:cNvPr id="9" name="Text 7"/>
          <p:cNvSpPr txBox="1"/>
          <p:nvPr/>
        </p:nvSpPr>
        <p:spPr>
          <a:xfrm>
            <a:off x="4709160" y="1645920"/>
            <a:ext cx="2743200" cy="347472"/>
          </a:xfrm>
          <a:prstGeom prst="rect">
            <a:avLst/>
          </a:prstGeom>
          <a:noFill/>
          <a:ln/>
        </p:spPr>
        <p:txBody>
          <a:bodyPr wrap="square" lIns="0" tIns="0" rIns="0" bIns="0" rtlCol="0" anchor="ctr"/>
          <a:lstStyle/>
          <a:p>
            <a:pPr indent="0" marL="0">
              <a:buNone/>
            </a:pPr>
            <a:r>
              <a:rPr lang="en-US" sz="1600" b="1" dirty="0">
                <a:solidFill>
                  <a:srgbClr val="00A65A"/>
                </a:solidFill>
                <a:latin typeface="Calibri" pitchFamily="34" charset="0"/>
                <a:ea typeface="Calibri" pitchFamily="34" charset="-122"/>
                <a:cs typeface="Calibri" pitchFamily="34" charset="-120"/>
              </a:rPr>
              <a:t>Téléphone</a:t>
            </a:r>
            <a:endParaRPr lang="en-US" sz="1600" dirty="0"/>
          </a:p>
        </p:txBody>
      </p:sp>
      <p:sp>
        <p:nvSpPr>
          <p:cNvPr id="10" name="Text 8"/>
          <p:cNvSpPr txBox="1"/>
          <p:nvPr/>
        </p:nvSpPr>
        <p:spPr>
          <a:xfrm>
            <a:off x="4709160" y="2029968"/>
            <a:ext cx="2743200" cy="822960"/>
          </a:xfrm>
          <a:prstGeom prst="rect">
            <a:avLst/>
          </a:prstGeom>
          <a:noFill/>
          <a:ln/>
        </p:spPr>
        <p:txBody>
          <a:bodyPr wrap="square" lIns="0" tIns="0" rIns="0" bIns="0" rtlCol="0" anchor="t"/>
          <a:lstStyle/>
          <a:p>
            <a:pPr indent="0" marL="0">
              <a:buNone/>
            </a:pPr>
            <a:r>
              <a:rPr lang="en-US" sz="1200" dirty="0">
                <a:solidFill>
                  <a:srgbClr val="B9C6D0"/>
                </a:solidFill>
                <a:latin typeface="Calibri" pitchFamily="34" charset="0"/>
                <a:ea typeface="Calibri" pitchFamily="34" charset="-122"/>
                <a:cs typeface="Calibri" pitchFamily="34" charset="-120"/>
              </a:rPr>
              <a:t>IA embarquée, hors ligne :</a:t>
            </a:r>
            <a:endParaRPr lang="en-US" sz="1200" dirty="0"/>
          </a:p>
          <a:p>
            <a:pPr indent="0" marL="0">
              <a:buNone/>
            </a:pPr>
            <a:r>
              <a:rPr lang="en-US" sz="1200" dirty="0">
                <a:solidFill>
                  <a:srgbClr val="B9C6D0"/>
                </a:solidFill>
                <a:latin typeface="Calibri" pitchFamily="34" charset="0"/>
                <a:ea typeface="Calibri" pitchFamily="34" charset="-122"/>
                <a:cs typeface="Calibri" pitchFamily="34" charset="-120"/>
              </a:rPr>
              <a:t>passages piétons, feux, couleur</a:t>
            </a:r>
            <a:endParaRPr lang="en-US" sz="1200" dirty="0"/>
          </a:p>
        </p:txBody>
      </p:sp>
      <p:sp>
        <p:nvSpPr>
          <p:cNvPr id="11" name="Shape 9"/>
          <p:cNvSpPr/>
          <p:nvPr/>
        </p:nvSpPr>
        <p:spPr>
          <a:xfrm>
            <a:off x="8321040" y="1508760"/>
            <a:ext cx="3108960" cy="1463040"/>
          </a:xfrm>
          <a:prstGeom prst="roundRect">
            <a:avLst>
              <a:gd name="adj" fmla="val 6250"/>
            </a:avLst>
          </a:prstGeom>
          <a:solidFill>
            <a:srgbClr val="26323F"/>
          </a:solidFill>
          <a:ln w="19050">
            <a:solidFill>
              <a:srgbClr val="3C4B59"/>
            </a:solidFill>
            <a:prstDash val="solid"/>
          </a:ln>
        </p:spPr>
      </p:sp>
      <p:sp>
        <p:nvSpPr>
          <p:cNvPr id="12" name="Text 10"/>
          <p:cNvSpPr txBox="1"/>
          <p:nvPr/>
        </p:nvSpPr>
        <p:spPr>
          <a:xfrm>
            <a:off x="8503920" y="1645920"/>
            <a:ext cx="274320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Internet</a:t>
            </a:r>
            <a:endParaRPr lang="en-US" sz="1600" dirty="0"/>
          </a:p>
        </p:txBody>
      </p:sp>
      <p:sp>
        <p:nvSpPr>
          <p:cNvPr id="13" name="Text 11"/>
          <p:cNvSpPr txBox="1"/>
          <p:nvPr/>
        </p:nvSpPr>
        <p:spPr>
          <a:xfrm>
            <a:off x="8503920" y="2029968"/>
            <a:ext cx="2743200" cy="822960"/>
          </a:xfrm>
          <a:prstGeom prst="rect">
            <a:avLst/>
          </a:prstGeom>
          <a:noFill/>
          <a:ln/>
        </p:spPr>
        <p:txBody>
          <a:bodyPr wrap="square" lIns="0" tIns="0" rIns="0" bIns="0" rtlCol="0" anchor="t"/>
          <a:lstStyle/>
          <a:p>
            <a:pPr indent="0" marL="0">
              <a:buNone/>
            </a:pPr>
            <a:r>
              <a:rPr lang="en-US" sz="1200" dirty="0">
                <a:solidFill>
                  <a:srgbClr val="B9C6D0"/>
                </a:solidFill>
                <a:latin typeface="Calibri" pitchFamily="34" charset="0"/>
                <a:ea typeface="Calibri" pitchFamily="34" charset="-122"/>
                <a:cs typeface="Calibri" pitchFamily="34" charset="-120"/>
              </a:rPr>
              <a:t>Cartes et adresses seulement.</a:t>
            </a:r>
            <a:endParaRPr lang="en-US" sz="1200" dirty="0"/>
          </a:p>
          <a:p>
            <a:pPr indent="0" marL="0">
              <a:buNone/>
            </a:pPr>
            <a:r>
              <a:rPr lang="en-US" sz="1200" dirty="0">
                <a:solidFill>
                  <a:srgbClr val="B9C6D0"/>
                </a:solidFill>
                <a:latin typeface="Calibri" pitchFamily="34" charset="0"/>
                <a:ea typeface="Calibri" pitchFamily="34" charset="-122"/>
                <a:cs typeface="Calibri" pitchFamily="34" charset="-120"/>
              </a:rPr>
              <a:t>Aucune IA.</a:t>
            </a:r>
            <a:endParaRPr lang="en-US" sz="1200" dirty="0"/>
          </a:p>
        </p:txBody>
      </p:sp>
      <p:sp>
        <p:nvSpPr>
          <p:cNvPr id="14" name="Shape 12"/>
          <p:cNvSpPr/>
          <p:nvPr/>
        </p:nvSpPr>
        <p:spPr>
          <a:xfrm>
            <a:off x="3931920" y="2103120"/>
            <a:ext cx="457200" cy="274320"/>
          </a:xfrm>
          <a:prstGeom prst="rightArrow">
            <a:avLst/>
          </a:prstGeom>
          <a:solidFill>
            <a:srgbClr val="2E86D6"/>
          </a:solidFill>
          <a:ln/>
        </p:spPr>
      </p:sp>
      <p:sp>
        <p:nvSpPr>
          <p:cNvPr id="15" name="Shape 13"/>
          <p:cNvSpPr/>
          <p:nvPr/>
        </p:nvSpPr>
        <p:spPr>
          <a:xfrm>
            <a:off x="7726680" y="2103120"/>
            <a:ext cx="457200" cy="274320"/>
          </a:xfrm>
          <a:prstGeom prst="rightArrow">
            <a:avLst/>
          </a:prstGeom>
          <a:solidFill>
            <a:srgbClr val="E8862A"/>
          </a:solidFill>
          <a:ln/>
        </p:spPr>
      </p:sp>
      <p:sp>
        <p:nvSpPr>
          <p:cNvPr id="16" name="Text 14"/>
          <p:cNvSpPr txBox="1"/>
          <p:nvPr/>
        </p:nvSpPr>
        <p:spPr>
          <a:xfrm>
            <a:off x="2788920" y="3035808"/>
            <a:ext cx="2788920" cy="457200"/>
          </a:xfrm>
          <a:prstGeom prst="rect">
            <a:avLst/>
          </a:prstGeom>
          <a:noFill/>
          <a:ln/>
        </p:spPr>
        <p:txBody>
          <a:bodyPr wrap="square" lIns="0" tIns="0" rIns="0" bIns="0" rtlCol="0" anchor="ctr"/>
          <a:lstStyle/>
          <a:p>
            <a:pPr algn="ctr" indent="0" marL="0">
              <a:buNone/>
            </a:pPr>
            <a:r>
              <a:rPr lang="en-US" sz="1100" b="1" dirty="0">
                <a:solidFill>
                  <a:srgbClr val="2E86D6"/>
                </a:solidFill>
                <a:latin typeface="Calibri" pitchFamily="34" charset="0"/>
                <a:ea typeface="Calibri" pitchFamily="34" charset="-122"/>
                <a:cs typeface="Calibri" pitchFamily="34" charset="-120"/>
              </a:rPr>
              <a:t>wifi local — le téléphone est le point d'accès</a:t>
            </a:r>
            <a:endParaRPr lang="en-US" sz="1100" dirty="0"/>
          </a:p>
        </p:txBody>
      </p:sp>
      <p:sp>
        <p:nvSpPr>
          <p:cNvPr id="17" name="Text 15"/>
          <p:cNvSpPr txBox="1"/>
          <p:nvPr/>
        </p:nvSpPr>
        <p:spPr>
          <a:xfrm>
            <a:off x="6583680" y="3035808"/>
            <a:ext cx="2788920" cy="457200"/>
          </a:xfrm>
          <a:prstGeom prst="rect">
            <a:avLst/>
          </a:prstGeom>
          <a:noFill/>
          <a:ln/>
        </p:spPr>
        <p:txBody>
          <a:bodyPr wrap="square" lIns="0" tIns="0" rIns="0" bIns="0" rtlCol="0" anchor="ctr"/>
          <a:lstStyle/>
          <a:p>
            <a:pPr algn="ctr" indent="0" marL="0">
              <a:buNone/>
            </a:pPr>
            <a:r>
              <a:rPr lang="en-US" sz="1100" b="1" dirty="0">
                <a:solidFill>
                  <a:srgbClr val="E8862A"/>
                </a:solidFill>
                <a:latin typeface="Calibri" pitchFamily="34" charset="0"/>
                <a:ea typeface="Calibri" pitchFamily="34" charset="-122"/>
                <a:cs typeface="Calibri" pitchFamily="34" charset="-120"/>
              </a:rPr>
              <a:t>4G / 5G — sans données, pas de guidage</a:t>
            </a:r>
            <a:endParaRPr lang="en-US" sz="1100" dirty="0"/>
          </a:p>
        </p:txBody>
      </p:sp>
      <p:sp>
        <p:nvSpPr>
          <p:cNvPr id="18" name="Shape 16"/>
          <p:cNvSpPr/>
          <p:nvPr/>
        </p:nvSpPr>
        <p:spPr>
          <a:xfrm>
            <a:off x="731520" y="3547872"/>
            <a:ext cx="2148840" cy="2523744"/>
          </a:xfrm>
          <a:prstGeom prst="roundRect">
            <a:avLst>
              <a:gd name="adj" fmla="val 4255"/>
            </a:avLst>
          </a:prstGeom>
          <a:solidFill>
            <a:srgbClr val="FFFFFF"/>
          </a:solidFill>
          <a:ln/>
        </p:spPr>
      </p:sp>
      <p:pic>
        <p:nvPicPr>
          <p:cNvPr id="19" name="Image 0" descr="illus_gen3.png">    </p:cNvPr>
          <p:cNvPicPr>
            <a:picLocks noChangeAspect="1"/>
          </p:cNvPicPr>
          <p:nvPr/>
        </p:nvPicPr>
        <p:blipFill>
          <a:blip r:embed="rId1"/>
          <a:stretch>
            <a:fillRect/>
          </a:stretch>
        </p:blipFill>
        <p:spPr>
          <a:xfrm>
            <a:off x="1066648" y="3602736"/>
            <a:ext cx="1478585" cy="2414016"/>
          </a:xfrm>
          <a:prstGeom prst="rect">
            <a:avLst/>
          </a:prstGeom>
        </p:spPr>
      </p:pic>
      <p:sp>
        <p:nvSpPr>
          <p:cNvPr id="20" name="Text 17"/>
          <p:cNvSpPr txBox="1"/>
          <p:nvPr/>
        </p:nvSpPr>
        <p:spPr>
          <a:xfrm>
            <a:off x="3154680" y="3657600"/>
            <a:ext cx="8275320" cy="384048"/>
          </a:xfrm>
          <a:prstGeom prst="rect">
            <a:avLst/>
          </a:prstGeom>
          <a:noFill/>
          <a:ln/>
        </p:spPr>
        <p:txBody>
          <a:bodyPr wrap="square" lIns="0" tIns="0" rIns="0" bIns="0" rtlCol="0" anchor="ctr"/>
          <a:lstStyle/>
          <a:p>
            <a:pPr indent="0" marL="0">
              <a:buNone/>
            </a:pPr>
            <a:r>
              <a:rPr lang="en-US" sz="1800" b="1" dirty="0">
                <a:solidFill>
                  <a:srgbClr val="00A65A"/>
                </a:solidFill>
                <a:latin typeface="Calibri" pitchFamily="34" charset="0"/>
                <a:ea typeface="Calibri" pitchFamily="34" charset="-122"/>
                <a:cs typeface="Calibri" pitchFamily="34" charset="-120"/>
              </a:rPr>
              <a:t>Deux boîtiers, un sur chaque branche</a:t>
            </a:r>
            <a:endParaRPr lang="en-US" sz="1800" dirty="0"/>
          </a:p>
        </p:txBody>
      </p:sp>
      <p:sp>
        <p:nvSpPr>
          <p:cNvPr id="21" name="Text 18"/>
          <p:cNvSpPr txBox="1"/>
          <p:nvPr/>
        </p:nvSpPr>
        <p:spPr>
          <a:xfrm>
            <a:off x="3154680" y="4114800"/>
            <a:ext cx="8275320" cy="1097280"/>
          </a:xfrm>
          <a:prstGeom prst="rect">
            <a:avLst/>
          </a:prstGeom>
          <a:noFill/>
          <a:ln/>
        </p:spPr>
        <p:txBody>
          <a:bodyPr wrap="square" lIns="0" tIns="0" rIns="0" bIns="0" rtlCol="0" anchor="t"/>
          <a:lstStyle/>
          <a:p>
            <a:pPr indent="0" marL="0">
              <a:buNone/>
            </a:pPr>
            <a:r>
              <a:rPr lang="en-US" sz="1350" dirty="0">
                <a:solidFill>
                  <a:srgbClr val="D5DEE5"/>
                </a:solidFill>
                <a:latin typeface="Calibri" pitchFamily="34" charset="0"/>
                <a:ea typeface="Calibri" pitchFamily="34" charset="-122"/>
                <a:cs typeface="Calibri" pitchFamily="34" charset="-120"/>
              </a:rPr>
              <a:t>La batterie d'un côté, la caméra et la carte de l'autre, reliées par un fin câble d'alimentation : le poids est réparti et la monture reste en équilibre.</a:t>
            </a:r>
            <a:endParaRPr lang="en-US" sz="1350" dirty="0"/>
          </a:p>
          <a:p>
            <a:pPr indent="0" marL="0">
              <a:buNone/>
            </a:pPr>
            <a:endParaRPr lang="en-US" sz="1350" dirty="0"/>
          </a:p>
          <a:p>
            <a:pPr indent="0" marL="0">
              <a:buNone/>
            </a:pPr>
            <a:r>
              <a:rPr lang="en-US" sz="1350" dirty="0">
                <a:solidFill>
                  <a:srgbClr val="D5DEE5"/>
                </a:solidFill>
                <a:latin typeface="Calibri" pitchFamily="34" charset="0"/>
                <a:ea typeface="Calibri" pitchFamily="34" charset="-122"/>
                <a:cs typeface="Calibri" pitchFamily="34" charset="-120"/>
              </a:rPr>
              <a:t>Cible 40 à 50 g — l'OrCam du marché en pèse 22,5.</a:t>
            </a:r>
            <a:endParaRPr lang="en-US" sz="1350" dirty="0"/>
          </a:p>
        </p:txBody>
      </p:sp>
      <p:sp>
        <p:nvSpPr>
          <p:cNvPr id="22" name="Text 19"/>
          <p:cNvSpPr txBox="1"/>
          <p:nvPr/>
        </p:nvSpPr>
        <p:spPr>
          <a:xfrm>
            <a:off x="3154680" y="5349240"/>
            <a:ext cx="8275320" cy="411480"/>
          </a:xfrm>
          <a:prstGeom prst="rect">
            <a:avLst/>
          </a:prstGeom>
          <a:noFill/>
          <a:ln/>
        </p:spPr>
        <p:txBody>
          <a:bodyPr wrap="square" lIns="0" tIns="0" rIns="0" bIns="0" rtlCol="0" anchor="ctr"/>
          <a:lstStyle/>
          <a:p>
            <a:pPr indent="0" marL="0">
              <a:buNone/>
            </a:pPr>
            <a:r>
              <a:rPr lang="en-US" sz="1700" b="1" i="1" dirty="0">
                <a:solidFill>
                  <a:srgbClr val="00A65A"/>
                </a:solidFill>
                <a:latin typeface="Calibri" pitchFamily="34" charset="0"/>
                <a:ea typeface="Calibri" pitchFamily="34" charset="-122"/>
                <a:cs typeface="Calibri" pitchFamily="34" charset="-120"/>
              </a:rPr>
              <a:t>On ne fabrique plus la lunette, on s'y accroche.</a:t>
            </a:r>
            <a:endParaRPr lang="en-US" sz="1700" dirty="0"/>
          </a:p>
        </p:txBody>
      </p:sp>
      <p:pic>
        <p:nvPicPr>
          <p:cNvPr id="23" name="Image 1" descr="logo_blindsystems.png">    </p:cNvPr>
          <p:cNvPicPr>
            <a:picLocks noChangeAspect="1"/>
          </p:cNvPicPr>
          <p:nvPr/>
        </p:nvPicPr>
        <p:blipFill>
          <a:blip r:embed="rId2"/>
          <a:stretch>
            <a:fillRect/>
          </a:stretch>
        </p:blipFill>
        <p:spPr>
          <a:xfrm>
            <a:off x="10497312" y="5971032"/>
            <a:ext cx="932688" cy="621792"/>
          </a:xfrm>
          <a:prstGeom prst="rect">
            <a:avLst/>
          </a:prstGeom>
        </p:spPr>
      </p:pic>
      <p:sp>
        <p:nvSpPr>
          <p:cNvPr id="24" name="Text 20"/>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6E8290"/>
                </a:solidFill>
                <a:latin typeface="Calibri" pitchFamily="34" charset="0"/>
                <a:ea typeface="Calibri" pitchFamily="34" charset="-122"/>
                <a:cs typeface="Calibri" pitchFamily="34" charset="-120"/>
              </a:rPr>
              <a:t>www.blindsystems.org  ·  CyclopeGEN 3</a:t>
            </a:r>
            <a:endParaRPr lang="en-US" sz="1000" dirty="0"/>
          </a:p>
        </p:txBody>
      </p:sp>
      <p:sp>
        <p:nvSpPr>
          <p:cNvPr id="25" name="Text 21"/>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6E829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Quatre briques, quatre élèves</a:t>
            </a:r>
            <a:endParaRPr lang="en-US" sz="3200" dirty="0"/>
          </a:p>
        </p:txBody>
      </p:sp>
      <p:sp>
        <p:nvSpPr>
          <p:cNvPr id="3" name="Shape 1"/>
          <p:cNvSpPr/>
          <p:nvPr/>
        </p:nvSpPr>
        <p:spPr>
          <a:xfrm>
            <a:off x="731520" y="1463040"/>
            <a:ext cx="5212080" cy="1874520"/>
          </a:xfrm>
          <a:prstGeom prst="roundRect">
            <a:avLst>
              <a:gd name="adj" fmla="val 4878"/>
            </a:avLst>
          </a:prstGeom>
          <a:solidFill>
            <a:srgbClr val="F1F4F6"/>
          </a:solidFill>
          <a:ln/>
        </p:spPr>
      </p:sp>
      <p:sp>
        <p:nvSpPr>
          <p:cNvPr id="4" name="Shape 2"/>
          <p:cNvSpPr/>
          <p:nvPr/>
        </p:nvSpPr>
        <p:spPr>
          <a:xfrm>
            <a:off x="987552" y="1700784"/>
            <a:ext cx="457200" cy="457200"/>
          </a:xfrm>
          <a:prstGeom prst="ellipse">
            <a:avLst/>
          </a:prstGeom>
          <a:solidFill>
            <a:srgbClr val="00A65A"/>
          </a:solidFill>
          <a:ln/>
        </p:spPr>
      </p:sp>
      <p:sp>
        <p:nvSpPr>
          <p:cNvPr id="5" name="Text 3"/>
          <p:cNvSpPr txBox="1"/>
          <p:nvPr/>
        </p:nvSpPr>
        <p:spPr>
          <a:xfrm>
            <a:off x="987552" y="1700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72768" y="1682496"/>
            <a:ext cx="4160520"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Électronique et boîtiers</a:t>
            </a:r>
            <a:endParaRPr lang="en-US" sz="1700" dirty="0"/>
          </a:p>
        </p:txBody>
      </p:sp>
      <p:sp>
        <p:nvSpPr>
          <p:cNvPr id="7" name="Text 5"/>
          <p:cNvSpPr txBox="1"/>
          <p:nvPr/>
        </p:nvSpPr>
        <p:spPr>
          <a:xfrm>
            <a:off x="1005840" y="2176272"/>
            <a:ext cx="4663440" cy="777240"/>
          </a:xfrm>
          <a:prstGeom prst="rect">
            <a:avLst/>
          </a:prstGeom>
          <a:noFill/>
          <a:ln/>
        </p:spPr>
        <p:txBody>
          <a:bodyPr wrap="square" lIns="0" tIns="0" rIns="0" bIns="0" rtlCol="0" anchor="t"/>
          <a:lstStyle/>
          <a:p>
            <a:pPr indent="0" marL="0">
              <a:buNone/>
            </a:pPr>
            <a:r>
              <a:rPr lang="en-US" sz="1250" dirty="0">
                <a:solidFill>
                  <a:srgbClr val="3E4C58"/>
                </a:solidFill>
                <a:latin typeface="Calibri" pitchFamily="34" charset="0"/>
                <a:ea typeface="Calibri" pitchFamily="34" charset="-122"/>
                <a:cs typeface="Calibri" pitchFamily="34" charset="-120"/>
              </a:rPr>
              <a:t>Adapter le schéma GEN 2, refaire le routage, buck-boost, deux boutons, et les deux boîtiers équilibrés sur les branches.</a:t>
            </a:r>
            <a:endParaRPr lang="en-US" sz="1250" dirty="0"/>
          </a:p>
        </p:txBody>
      </p:sp>
      <p:sp>
        <p:nvSpPr>
          <p:cNvPr id="8" name="Text 6"/>
          <p:cNvSpPr txBox="1"/>
          <p:nvPr/>
        </p:nvSpPr>
        <p:spPr>
          <a:xfrm>
            <a:off x="1005840" y="2926080"/>
            <a:ext cx="4663440" cy="292608"/>
          </a:xfrm>
          <a:prstGeom prst="rect">
            <a:avLst/>
          </a:prstGeom>
          <a:noFill/>
          <a:ln/>
        </p:spPr>
        <p:txBody>
          <a:bodyPr wrap="square" lIns="0" tIns="0" rIns="0" bIns="0" rtlCol="0" anchor="ctr"/>
          <a:lstStyle/>
          <a:p>
            <a:pPr indent="0" marL="0">
              <a:buNone/>
            </a:pPr>
            <a:r>
              <a:rPr lang="en-US" sz="1150" b="1" dirty="0">
                <a:solidFill>
                  <a:srgbClr val="00814A"/>
                </a:solidFill>
                <a:latin typeface="Calibri" pitchFamily="34" charset="0"/>
                <a:ea typeface="Calibri" pitchFamily="34" charset="-122"/>
                <a:cs typeface="Calibri" pitchFamily="34" charset="-120"/>
              </a:rPr>
              <a:t>Altium  ·  SolidWorks  ·  JLCPCB</a:t>
            </a:r>
            <a:endParaRPr lang="en-US" sz="1150" dirty="0"/>
          </a:p>
        </p:txBody>
      </p:sp>
      <p:sp>
        <p:nvSpPr>
          <p:cNvPr id="9" name="Shape 7"/>
          <p:cNvSpPr/>
          <p:nvPr/>
        </p:nvSpPr>
        <p:spPr>
          <a:xfrm>
            <a:off x="6217920" y="1463040"/>
            <a:ext cx="5212080" cy="1874520"/>
          </a:xfrm>
          <a:prstGeom prst="roundRect">
            <a:avLst>
              <a:gd name="adj" fmla="val 4878"/>
            </a:avLst>
          </a:prstGeom>
          <a:solidFill>
            <a:srgbClr val="F1F4F6"/>
          </a:solidFill>
          <a:ln/>
        </p:spPr>
      </p:sp>
      <p:sp>
        <p:nvSpPr>
          <p:cNvPr id="10" name="Shape 8"/>
          <p:cNvSpPr/>
          <p:nvPr/>
        </p:nvSpPr>
        <p:spPr>
          <a:xfrm>
            <a:off x="6473952" y="1700784"/>
            <a:ext cx="457200" cy="457200"/>
          </a:xfrm>
          <a:prstGeom prst="ellipse">
            <a:avLst/>
          </a:prstGeom>
          <a:solidFill>
            <a:srgbClr val="00A65A"/>
          </a:solidFill>
          <a:ln/>
        </p:spPr>
      </p:sp>
      <p:sp>
        <p:nvSpPr>
          <p:cNvPr id="11" name="Text 9"/>
          <p:cNvSpPr txBox="1"/>
          <p:nvPr/>
        </p:nvSpPr>
        <p:spPr>
          <a:xfrm>
            <a:off x="6473952" y="1700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059168" y="1682496"/>
            <a:ext cx="4160520"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Firmware embarqué</a:t>
            </a:r>
            <a:endParaRPr lang="en-US" sz="1700" dirty="0"/>
          </a:p>
        </p:txBody>
      </p:sp>
      <p:sp>
        <p:nvSpPr>
          <p:cNvPr id="13" name="Text 11"/>
          <p:cNvSpPr txBox="1"/>
          <p:nvPr/>
        </p:nvSpPr>
        <p:spPr>
          <a:xfrm>
            <a:off x="6492240" y="2176272"/>
            <a:ext cx="4663440" cy="777240"/>
          </a:xfrm>
          <a:prstGeom prst="rect">
            <a:avLst/>
          </a:prstGeom>
          <a:noFill/>
          <a:ln/>
        </p:spPr>
        <p:txBody>
          <a:bodyPr wrap="square" lIns="0" tIns="0" rIns="0" bIns="0" rtlCol="0" anchor="t"/>
          <a:lstStyle/>
          <a:p>
            <a:pPr indent="0" marL="0">
              <a:buNone/>
            </a:pPr>
            <a:r>
              <a:rPr lang="en-US" sz="1250" dirty="0">
                <a:solidFill>
                  <a:srgbClr val="3E4C58"/>
                </a:solidFill>
                <a:latin typeface="Calibri" pitchFamily="34" charset="0"/>
                <a:ea typeface="Calibri" pitchFamily="34" charset="-122"/>
                <a:cs typeface="Calibri" pitchFamily="34" charset="-120"/>
              </a:rPr>
              <a:t>Capture et compression d'image, enregistrement audio des commandes, gestion des appuis, surveillance du lien wifi.</a:t>
            </a:r>
            <a:endParaRPr lang="en-US" sz="1250" dirty="0"/>
          </a:p>
        </p:txBody>
      </p:sp>
      <p:sp>
        <p:nvSpPr>
          <p:cNvPr id="14" name="Text 12"/>
          <p:cNvSpPr txBox="1"/>
          <p:nvPr/>
        </p:nvSpPr>
        <p:spPr>
          <a:xfrm>
            <a:off x="6492240" y="2926080"/>
            <a:ext cx="4663440" cy="292608"/>
          </a:xfrm>
          <a:prstGeom prst="rect">
            <a:avLst/>
          </a:prstGeom>
          <a:noFill/>
          <a:ln/>
        </p:spPr>
        <p:txBody>
          <a:bodyPr wrap="square" lIns="0" tIns="0" rIns="0" bIns="0" rtlCol="0" anchor="ctr"/>
          <a:lstStyle/>
          <a:p>
            <a:pPr indent="0" marL="0">
              <a:buNone/>
            </a:pPr>
            <a:r>
              <a:rPr lang="en-US" sz="1150" b="1" dirty="0">
                <a:solidFill>
                  <a:srgbClr val="00814A"/>
                </a:solidFill>
                <a:latin typeface="Calibri" pitchFamily="34" charset="0"/>
                <a:ea typeface="Calibri" pitchFamily="34" charset="-122"/>
                <a:cs typeface="Calibri" pitchFamily="34" charset="-120"/>
              </a:rPr>
              <a:t>ESP-IDF  ·  C++  ·  ESP32-S3</a:t>
            </a:r>
            <a:endParaRPr lang="en-US" sz="1150" dirty="0"/>
          </a:p>
        </p:txBody>
      </p:sp>
      <p:sp>
        <p:nvSpPr>
          <p:cNvPr id="15" name="Shape 13"/>
          <p:cNvSpPr/>
          <p:nvPr/>
        </p:nvSpPr>
        <p:spPr>
          <a:xfrm>
            <a:off x="731520" y="3520440"/>
            <a:ext cx="5212080" cy="1874520"/>
          </a:xfrm>
          <a:prstGeom prst="roundRect">
            <a:avLst>
              <a:gd name="adj" fmla="val 4878"/>
            </a:avLst>
          </a:prstGeom>
          <a:solidFill>
            <a:srgbClr val="F1F4F6"/>
          </a:solidFill>
          <a:ln/>
        </p:spPr>
      </p:sp>
      <p:sp>
        <p:nvSpPr>
          <p:cNvPr id="16" name="Shape 14"/>
          <p:cNvSpPr/>
          <p:nvPr/>
        </p:nvSpPr>
        <p:spPr>
          <a:xfrm>
            <a:off x="987552" y="3758184"/>
            <a:ext cx="457200" cy="457200"/>
          </a:xfrm>
          <a:prstGeom prst="ellipse">
            <a:avLst/>
          </a:prstGeom>
          <a:solidFill>
            <a:srgbClr val="00A65A"/>
          </a:solidFill>
          <a:ln/>
        </p:spPr>
      </p:sp>
      <p:sp>
        <p:nvSpPr>
          <p:cNvPr id="17" name="Text 15"/>
          <p:cNvSpPr txBox="1"/>
          <p:nvPr/>
        </p:nvSpPr>
        <p:spPr>
          <a:xfrm>
            <a:off x="987552" y="37581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572768" y="3739896"/>
            <a:ext cx="4160520"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Vision sur Android</a:t>
            </a:r>
            <a:endParaRPr lang="en-US" sz="1700" dirty="0"/>
          </a:p>
        </p:txBody>
      </p:sp>
      <p:sp>
        <p:nvSpPr>
          <p:cNvPr id="19" name="Text 17"/>
          <p:cNvSpPr txBox="1"/>
          <p:nvPr/>
        </p:nvSpPr>
        <p:spPr>
          <a:xfrm>
            <a:off x="1005840" y="4233672"/>
            <a:ext cx="4663440" cy="777240"/>
          </a:xfrm>
          <a:prstGeom prst="rect">
            <a:avLst/>
          </a:prstGeom>
          <a:noFill/>
          <a:ln/>
        </p:spPr>
        <p:txBody>
          <a:bodyPr wrap="square" lIns="0" tIns="0" rIns="0" bIns="0" rtlCol="0" anchor="t"/>
          <a:lstStyle/>
          <a:p>
            <a:pPr indent="0" marL="0">
              <a:buNone/>
            </a:pPr>
            <a:r>
              <a:rPr lang="en-US" sz="1250" dirty="0">
                <a:solidFill>
                  <a:srgbClr val="3E4C58"/>
                </a:solidFill>
                <a:latin typeface="Calibri" pitchFamily="34" charset="0"/>
                <a:ea typeface="Calibri" pitchFamily="34" charset="-122"/>
                <a:cs typeface="Calibri" pitchFamily="34" charset="-120"/>
              </a:rPr>
              <a:t>Passages piétons, feux et leur couleur en temps réel, plus la description de scène à la demande, héritée de GEN 2.</a:t>
            </a:r>
            <a:endParaRPr lang="en-US" sz="1250" dirty="0"/>
          </a:p>
        </p:txBody>
      </p:sp>
      <p:sp>
        <p:nvSpPr>
          <p:cNvPr id="20" name="Text 18"/>
          <p:cNvSpPr txBox="1"/>
          <p:nvPr/>
        </p:nvSpPr>
        <p:spPr>
          <a:xfrm>
            <a:off x="1005840" y="4983480"/>
            <a:ext cx="4663440" cy="292608"/>
          </a:xfrm>
          <a:prstGeom prst="rect">
            <a:avLst/>
          </a:prstGeom>
          <a:noFill/>
          <a:ln/>
        </p:spPr>
        <p:txBody>
          <a:bodyPr wrap="square" lIns="0" tIns="0" rIns="0" bIns="0" rtlCol="0" anchor="ctr"/>
          <a:lstStyle/>
          <a:p>
            <a:pPr indent="0" marL="0">
              <a:buNone/>
            </a:pPr>
            <a:r>
              <a:rPr lang="en-US" sz="1150" b="1" dirty="0">
                <a:solidFill>
                  <a:srgbClr val="00814A"/>
                </a:solidFill>
                <a:latin typeface="Calibri" pitchFamily="34" charset="0"/>
                <a:ea typeface="Calibri" pitchFamily="34" charset="-122"/>
                <a:cs typeface="Calibri" pitchFamily="34" charset="-120"/>
              </a:rPr>
              <a:t>YOLO  ·  LiteRT  ·  Kotlin</a:t>
            </a:r>
            <a:endParaRPr lang="en-US" sz="1150" dirty="0"/>
          </a:p>
        </p:txBody>
      </p:sp>
      <p:sp>
        <p:nvSpPr>
          <p:cNvPr id="21" name="Shape 19"/>
          <p:cNvSpPr/>
          <p:nvPr/>
        </p:nvSpPr>
        <p:spPr>
          <a:xfrm>
            <a:off x="6217920" y="3520440"/>
            <a:ext cx="5212080" cy="1874520"/>
          </a:xfrm>
          <a:prstGeom prst="roundRect">
            <a:avLst>
              <a:gd name="adj" fmla="val 4878"/>
            </a:avLst>
          </a:prstGeom>
          <a:solidFill>
            <a:srgbClr val="F1F4F6"/>
          </a:solidFill>
          <a:ln/>
        </p:spPr>
      </p:sp>
      <p:sp>
        <p:nvSpPr>
          <p:cNvPr id="22" name="Shape 20"/>
          <p:cNvSpPr/>
          <p:nvPr/>
        </p:nvSpPr>
        <p:spPr>
          <a:xfrm>
            <a:off x="6473952" y="3758184"/>
            <a:ext cx="457200" cy="457200"/>
          </a:xfrm>
          <a:prstGeom prst="ellipse">
            <a:avLst/>
          </a:prstGeom>
          <a:solidFill>
            <a:srgbClr val="00A65A"/>
          </a:solidFill>
          <a:ln/>
        </p:spPr>
      </p:sp>
      <p:sp>
        <p:nvSpPr>
          <p:cNvPr id="23" name="Text 21"/>
          <p:cNvSpPr txBox="1"/>
          <p:nvPr/>
        </p:nvSpPr>
        <p:spPr>
          <a:xfrm>
            <a:off x="6473952" y="37581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7059168" y="3739896"/>
            <a:ext cx="4160520"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Navigation piétonne</a:t>
            </a:r>
            <a:endParaRPr lang="en-US" sz="1700" dirty="0"/>
          </a:p>
        </p:txBody>
      </p:sp>
      <p:sp>
        <p:nvSpPr>
          <p:cNvPr id="25" name="Text 23"/>
          <p:cNvSpPr txBox="1"/>
          <p:nvPr/>
        </p:nvSpPr>
        <p:spPr>
          <a:xfrm>
            <a:off x="6492240" y="4233672"/>
            <a:ext cx="4663440" cy="777240"/>
          </a:xfrm>
          <a:prstGeom prst="rect">
            <a:avLst/>
          </a:prstGeom>
          <a:noFill/>
          <a:ln/>
        </p:spPr>
        <p:txBody>
          <a:bodyPr wrap="square" lIns="0" tIns="0" rIns="0" bIns="0" rtlCol="0" anchor="t"/>
          <a:lstStyle/>
          <a:p>
            <a:pPr indent="0" marL="0">
              <a:buNone/>
            </a:pPr>
            <a:r>
              <a:rPr lang="en-US" sz="1250" dirty="0">
                <a:solidFill>
                  <a:srgbClr val="3E4C58"/>
                </a:solidFill>
                <a:latin typeface="Calibri" pitchFamily="34" charset="0"/>
                <a:ea typeface="Calibri" pitchFamily="34" charset="-122"/>
                <a:cs typeface="Calibri" pitchFamily="34" charset="-120"/>
              </a:rPr>
              <a:t>Adresse dictée, itinéraire, guidage vocal, et contribution des passages manquants à OpenStreetMap.</a:t>
            </a:r>
            <a:endParaRPr lang="en-US" sz="1250" dirty="0"/>
          </a:p>
        </p:txBody>
      </p:sp>
      <p:sp>
        <p:nvSpPr>
          <p:cNvPr id="26" name="Text 24"/>
          <p:cNvSpPr txBox="1"/>
          <p:nvPr/>
        </p:nvSpPr>
        <p:spPr>
          <a:xfrm>
            <a:off x="6492240" y="4983480"/>
            <a:ext cx="4663440" cy="292608"/>
          </a:xfrm>
          <a:prstGeom prst="rect">
            <a:avLst/>
          </a:prstGeom>
          <a:noFill/>
          <a:ln/>
        </p:spPr>
        <p:txBody>
          <a:bodyPr wrap="square" lIns="0" tIns="0" rIns="0" bIns="0" rtlCol="0" anchor="ctr"/>
          <a:lstStyle/>
          <a:p>
            <a:pPr indent="0" marL="0">
              <a:buNone/>
            </a:pPr>
            <a:r>
              <a:rPr lang="en-US" sz="1150" b="1" dirty="0">
                <a:solidFill>
                  <a:srgbClr val="00814A"/>
                </a:solidFill>
                <a:latin typeface="Calibri" pitchFamily="34" charset="0"/>
                <a:ea typeface="Calibri" pitchFamily="34" charset="-122"/>
                <a:cs typeface="Calibri" pitchFamily="34" charset="-120"/>
              </a:rPr>
              <a:t>Vosk  ·  Nominatim  ·  OSRM  ·  TalkBack</a:t>
            </a:r>
            <a:endParaRPr lang="en-US" sz="1150" dirty="0"/>
          </a:p>
        </p:txBody>
      </p:sp>
      <p:sp>
        <p:nvSpPr>
          <p:cNvPr id="27" name="Text 25"/>
          <p:cNvSpPr txBox="1"/>
          <p:nvPr/>
        </p:nvSpPr>
        <p:spPr>
          <a:xfrm>
            <a:off x="731520" y="5669280"/>
            <a:ext cx="10698480" cy="457200"/>
          </a:xfrm>
          <a:prstGeom prst="rect">
            <a:avLst/>
          </a:prstGeom>
          <a:noFill/>
          <a:ln/>
        </p:spPr>
        <p:txBody>
          <a:bodyPr wrap="square" lIns="0" tIns="0" rIns="0" bIns="0" rtlCol="0" anchor="ctr"/>
          <a:lstStyle/>
          <a:p>
            <a:pPr indent="0" marL="0">
              <a:buNone/>
            </a:pPr>
            <a:r>
              <a:rPr lang="en-US" sz="1500" b="1" i="1" dirty="0">
                <a:solidFill>
                  <a:srgbClr val="00814A"/>
                </a:solidFill>
                <a:latin typeface="Calibri" pitchFamily="34" charset="0"/>
                <a:ea typeface="Calibri" pitchFamily="34" charset="-122"/>
                <a:cs typeface="Calibri" pitchFamily="34" charset="-120"/>
              </a:rPr>
              <a:t>Interfaces figées avant le démarrage, et un substitut pour chaque dépendance : personne n'attend personne.</a:t>
            </a:r>
            <a:endParaRPr lang="en-US" sz="1500" dirty="0"/>
          </a:p>
        </p:txBody>
      </p:sp>
      <p:pic>
        <p:nvPicPr>
          <p:cNvPr id="28" name="Image 0" descr="logo_blindsystems.png">    </p:cNvPr>
          <p:cNvPicPr>
            <a:picLocks noChangeAspect="1"/>
          </p:cNvPicPr>
          <p:nvPr/>
        </p:nvPicPr>
        <p:blipFill>
          <a:blip r:embed="rId1"/>
          <a:stretch>
            <a:fillRect/>
          </a:stretch>
        </p:blipFill>
        <p:spPr>
          <a:xfrm>
            <a:off x="10497312" y="5971032"/>
            <a:ext cx="932688" cy="621792"/>
          </a:xfrm>
          <a:prstGeom prst="rect">
            <a:avLst/>
          </a:prstGeom>
        </p:spPr>
      </p:pic>
      <p:sp>
        <p:nvSpPr>
          <p:cNvPr id="29" name="Text 26"/>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30" name="Text 27"/>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Le cadre</a:t>
            </a:r>
            <a:endParaRPr lang="en-US" sz="3200" dirty="0"/>
          </a:p>
        </p:txBody>
      </p:sp>
      <p:sp>
        <p:nvSpPr>
          <p:cNvPr id="3" name="Shape 1"/>
          <p:cNvSpPr/>
          <p:nvPr/>
        </p:nvSpPr>
        <p:spPr>
          <a:xfrm>
            <a:off x="731520" y="1463040"/>
            <a:ext cx="3383280" cy="1554480"/>
          </a:xfrm>
          <a:prstGeom prst="roundRect">
            <a:avLst>
              <a:gd name="adj" fmla="val 5882"/>
            </a:avLst>
          </a:prstGeom>
          <a:solidFill>
            <a:srgbClr val="F1F4F6"/>
          </a:solidFill>
          <a:ln/>
        </p:spPr>
      </p:sp>
      <p:sp>
        <p:nvSpPr>
          <p:cNvPr id="4" name="Text 2"/>
          <p:cNvSpPr txBox="1"/>
          <p:nvPr/>
        </p:nvSpPr>
        <p:spPr>
          <a:xfrm>
            <a:off x="960120" y="1609344"/>
            <a:ext cx="2926080" cy="841248"/>
          </a:xfrm>
          <a:prstGeom prst="rect">
            <a:avLst/>
          </a:prstGeom>
          <a:noFill/>
          <a:ln/>
        </p:spPr>
        <p:txBody>
          <a:bodyPr wrap="square" lIns="0" tIns="0" rIns="0" bIns="0" rtlCol="0" anchor="ctr"/>
          <a:lstStyle/>
          <a:p>
            <a:pPr indent="0" marL="0">
              <a:buNone/>
            </a:pPr>
            <a:r>
              <a:rPr lang="en-US" sz="4200" b="1" dirty="0">
                <a:solidFill>
                  <a:srgbClr val="00A65A"/>
                </a:solidFill>
                <a:latin typeface="Cambria" pitchFamily="34" charset="0"/>
                <a:ea typeface="Cambria" pitchFamily="34" charset="-122"/>
                <a:cs typeface="Cambria" pitchFamily="34" charset="-120"/>
              </a:rPr>
              <a:t>100 h</a:t>
            </a:r>
            <a:endParaRPr lang="en-US" sz="4200" dirty="0"/>
          </a:p>
        </p:txBody>
      </p:sp>
      <p:sp>
        <p:nvSpPr>
          <p:cNvPr id="5" name="Text 3"/>
          <p:cNvSpPr txBox="1"/>
          <p:nvPr/>
        </p:nvSpPr>
        <p:spPr>
          <a:xfrm>
            <a:off x="960120" y="2450592"/>
            <a:ext cx="2926080" cy="365760"/>
          </a:xfrm>
          <a:prstGeom prst="rect">
            <a:avLst/>
          </a:prstGeom>
          <a:noFill/>
          <a:ln/>
        </p:spPr>
        <p:txBody>
          <a:bodyPr wrap="square" lIns="0" tIns="0" rIns="0" bIns="0" rtlCol="0" anchor="ctr"/>
          <a:lstStyle/>
          <a:p>
            <a:pPr indent="0" marL="0">
              <a:buNone/>
            </a:pPr>
            <a:r>
              <a:rPr lang="en-US" sz="1300" dirty="0">
                <a:solidFill>
                  <a:srgbClr val="5A6B79"/>
                </a:solidFill>
                <a:latin typeface="Calibri" pitchFamily="34" charset="0"/>
                <a:ea typeface="Calibri" pitchFamily="34" charset="-122"/>
                <a:cs typeface="Calibri" pitchFamily="34" charset="-120"/>
              </a:rPr>
              <a:t>par élève</a:t>
            </a:r>
            <a:endParaRPr lang="en-US" sz="1300" dirty="0"/>
          </a:p>
        </p:txBody>
      </p:sp>
      <p:sp>
        <p:nvSpPr>
          <p:cNvPr id="6" name="Shape 4"/>
          <p:cNvSpPr/>
          <p:nvPr/>
        </p:nvSpPr>
        <p:spPr>
          <a:xfrm>
            <a:off x="4389120" y="1463040"/>
            <a:ext cx="3383280" cy="1554480"/>
          </a:xfrm>
          <a:prstGeom prst="roundRect">
            <a:avLst>
              <a:gd name="adj" fmla="val 5882"/>
            </a:avLst>
          </a:prstGeom>
          <a:solidFill>
            <a:srgbClr val="F1F4F6"/>
          </a:solidFill>
          <a:ln/>
        </p:spPr>
      </p:sp>
      <p:sp>
        <p:nvSpPr>
          <p:cNvPr id="7" name="Text 5"/>
          <p:cNvSpPr txBox="1"/>
          <p:nvPr/>
        </p:nvSpPr>
        <p:spPr>
          <a:xfrm>
            <a:off x="4617720" y="1609344"/>
            <a:ext cx="2926080" cy="841248"/>
          </a:xfrm>
          <a:prstGeom prst="rect">
            <a:avLst/>
          </a:prstGeom>
          <a:noFill/>
          <a:ln/>
        </p:spPr>
        <p:txBody>
          <a:bodyPr wrap="square" lIns="0" tIns="0" rIns="0" bIns="0" rtlCol="0" anchor="ctr"/>
          <a:lstStyle/>
          <a:p>
            <a:pPr indent="0" marL="0">
              <a:buNone/>
            </a:pPr>
            <a:r>
              <a:rPr lang="en-US" sz="4200" b="1" dirty="0">
                <a:solidFill>
                  <a:srgbClr val="00A65A"/>
                </a:solidFill>
                <a:latin typeface="Cambria" pitchFamily="34" charset="0"/>
                <a:ea typeface="Cambria" pitchFamily="34" charset="-122"/>
                <a:cs typeface="Cambria" pitchFamily="34" charset="-120"/>
              </a:rPr>
              <a:t>2</a:t>
            </a:r>
            <a:endParaRPr lang="en-US" sz="4200" dirty="0"/>
          </a:p>
        </p:txBody>
      </p:sp>
      <p:sp>
        <p:nvSpPr>
          <p:cNvPr id="8" name="Text 6"/>
          <p:cNvSpPr txBox="1"/>
          <p:nvPr/>
        </p:nvSpPr>
        <p:spPr>
          <a:xfrm>
            <a:off x="4617720" y="2450592"/>
            <a:ext cx="2926080" cy="365760"/>
          </a:xfrm>
          <a:prstGeom prst="rect">
            <a:avLst/>
          </a:prstGeom>
          <a:noFill/>
          <a:ln/>
        </p:spPr>
        <p:txBody>
          <a:bodyPr wrap="square" lIns="0" tIns="0" rIns="0" bIns="0" rtlCol="0" anchor="ctr"/>
          <a:lstStyle/>
          <a:p>
            <a:pPr indent="0" marL="0">
              <a:buNone/>
            </a:pPr>
            <a:r>
              <a:rPr lang="en-US" sz="1300" dirty="0">
                <a:solidFill>
                  <a:srgbClr val="5A6B79"/>
                </a:solidFill>
                <a:latin typeface="Calibri" pitchFamily="34" charset="0"/>
                <a:ea typeface="Calibri" pitchFamily="34" charset="-122"/>
                <a:cs typeface="Calibri" pitchFamily="34" charset="-120"/>
              </a:rPr>
              <a:t>cartes prêtes à l'emploi</a:t>
            </a:r>
            <a:endParaRPr lang="en-US" sz="1300" dirty="0"/>
          </a:p>
        </p:txBody>
      </p:sp>
      <p:sp>
        <p:nvSpPr>
          <p:cNvPr id="9" name="Shape 7"/>
          <p:cNvSpPr/>
          <p:nvPr/>
        </p:nvSpPr>
        <p:spPr>
          <a:xfrm>
            <a:off x="8046720" y="1463040"/>
            <a:ext cx="3383280" cy="1554480"/>
          </a:xfrm>
          <a:prstGeom prst="roundRect">
            <a:avLst>
              <a:gd name="adj" fmla="val 5882"/>
            </a:avLst>
          </a:prstGeom>
          <a:solidFill>
            <a:srgbClr val="F1F4F6"/>
          </a:solidFill>
          <a:ln/>
        </p:spPr>
      </p:sp>
      <p:sp>
        <p:nvSpPr>
          <p:cNvPr id="10" name="Text 8"/>
          <p:cNvSpPr txBox="1"/>
          <p:nvPr/>
        </p:nvSpPr>
        <p:spPr>
          <a:xfrm>
            <a:off x="8275320" y="1609344"/>
            <a:ext cx="2926080" cy="841248"/>
          </a:xfrm>
          <a:prstGeom prst="rect">
            <a:avLst/>
          </a:prstGeom>
          <a:noFill/>
          <a:ln/>
        </p:spPr>
        <p:txBody>
          <a:bodyPr wrap="square" lIns="0" tIns="0" rIns="0" bIns="0" rtlCol="0" anchor="ctr"/>
          <a:lstStyle/>
          <a:p>
            <a:pPr indent="0" marL="0">
              <a:buNone/>
            </a:pPr>
            <a:r>
              <a:rPr lang="en-US" sz="4200" b="1" dirty="0">
                <a:solidFill>
                  <a:srgbClr val="00A65A"/>
                </a:solidFill>
                <a:latin typeface="Cambria" pitchFamily="34" charset="0"/>
                <a:ea typeface="Cambria" pitchFamily="34" charset="-122"/>
                <a:cs typeface="Cambria" pitchFamily="34" charset="-120"/>
              </a:rPr>
              <a:t>0</a:t>
            </a:r>
            <a:endParaRPr lang="en-US" sz="4200" dirty="0"/>
          </a:p>
        </p:txBody>
      </p:sp>
      <p:sp>
        <p:nvSpPr>
          <p:cNvPr id="11" name="Text 9"/>
          <p:cNvSpPr txBox="1"/>
          <p:nvPr/>
        </p:nvSpPr>
        <p:spPr>
          <a:xfrm>
            <a:off x="8275320" y="2450592"/>
            <a:ext cx="2926080" cy="365760"/>
          </a:xfrm>
          <a:prstGeom prst="rect">
            <a:avLst/>
          </a:prstGeom>
          <a:noFill/>
          <a:ln/>
        </p:spPr>
        <p:txBody>
          <a:bodyPr wrap="square" lIns="0" tIns="0" rIns="0" bIns="0" rtlCol="0" anchor="ctr"/>
          <a:lstStyle/>
          <a:p>
            <a:pPr indent="0" marL="0">
              <a:buNone/>
            </a:pPr>
            <a:r>
              <a:rPr lang="en-US" sz="1300" dirty="0">
                <a:solidFill>
                  <a:srgbClr val="5A6B79"/>
                </a:solidFill>
                <a:latin typeface="Calibri" pitchFamily="34" charset="0"/>
                <a:ea typeface="Calibri" pitchFamily="34" charset="-122"/>
                <a:cs typeface="Calibri" pitchFamily="34" charset="-120"/>
              </a:rPr>
              <a:t>composant à braser</a:t>
            </a:r>
            <a:endParaRPr lang="en-US" sz="1300" dirty="0"/>
          </a:p>
        </p:txBody>
      </p:sp>
      <p:sp>
        <p:nvSpPr>
          <p:cNvPr id="12" name="Text 10"/>
          <p:cNvSpPr txBox="1"/>
          <p:nvPr/>
        </p:nvSpPr>
        <p:spPr>
          <a:xfrm>
            <a:off x="868680" y="3383280"/>
            <a:ext cx="10424160" cy="17373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C2530"/>
                </a:solidFill>
                <a:latin typeface="Calibri" pitchFamily="34" charset="0"/>
                <a:ea typeface="Calibri" pitchFamily="34" charset="-122"/>
                <a:cs typeface="Calibri" pitchFamily="34" charset="-120"/>
              </a:rPr>
              <a:t>Un dépôt git unique : une branche de travail par brique, modules Gradle séparés côté Android</a:t>
            </a:r>
            <a:endParaRPr lang="en-US" sz="1500" dirty="0"/>
          </a:p>
          <a:p>
            <a:pPr marL="342900" indent="-342900">
              <a:spcAft>
                <a:spcPts val="900"/>
              </a:spcAft>
              <a:buSzPct val="100000"/>
              <a:buChar char="•"/>
            </a:pPr>
            <a:r>
              <a:rPr lang="en-US" sz="1500" dirty="0">
                <a:solidFill>
                  <a:srgbClr val="1C2530"/>
                </a:solidFill>
                <a:latin typeface="Calibri" pitchFamily="34" charset="0"/>
                <a:ea typeface="Calibri" pitchFamily="34" charset="-122"/>
                <a:cs typeface="Calibri" pitchFamily="34" charset="-120"/>
              </a:rPr>
              <a:t>Matériel disponible dès la première séance, assemblage de la carte sous-traité</a:t>
            </a:r>
            <a:endParaRPr lang="en-US" sz="1500" dirty="0"/>
          </a:p>
          <a:p>
            <a:pPr marL="342900" indent="-342900">
              <a:spcAft>
                <a:spcPts val="900"/>
              </a:spcAft>
              <a:buSzPct val="100000"/>
              <a:buChar char="•"/>
            </a:pPr>
            <a:r>
              <a:rPr lang="en-US" sz="1500" dirty="0">
                <a:solidFill>
                  <a:srgbClr val="1C2530"/>
                </a:solidFill>
                <a:latin typeface="Calibri" pitchFamily="34" charset="0"/>
                <a:ea typeface="Calibri" pitchFamily="34" charset="-122"/>
                <a:cs typeface="Calibri" pitchFamily="34" charset="-120"/>
              </a:rPr>
              <a:t>Que du logiciel libre et gratuit, aucun abonnement</a:t>
            </a:r>
            <a:endParaRPr lang="en-US" sz="1500" dirty="0"/>
          </a:p>
          <a:p>
            <a:pPr marL="342900" indent="-342900">
              <a:spcAft>
                <a:spcPts val="900"/>
              </a:spcAft>
              <a:buSzPct val="100000"/>
              <a:buChar char="•"/>
            </a:pPr>
            <a:r>
              <a:rPr lang="en-US" sz="1500" dirty="0">
                <a:solidFill>
                  <a:srgbClr val="1C2530"/>
                </a:solidFill>
                <a:latin typeface="Calibri" pitchFamily="34" charset="0"/>
                <a:ea typeface="Calibri" pitchFamily="34" charset="-122"/>
                <a:cs typeface="Calibri" pitchFamily="34" charset="-120"/>
              </a:rPr>
              <a:t>Livrables : une démonstration qui fonctionne, et la documentation qui va avec</a:t>
            </a:r>
            <a:endParaRPr lang="en-US" sz="1500" dirty="0"/>
          </a:p>
        </p:txBody>
      </p:sp>
      <p:sp>
        <p:nvSpPr>
          <p:cNvPr id="13" name="Text 11"/>
          <p:cNvSpPr txBox="1"/>
          <p:nvPr/>
        </p:nvSpPr>
        <p:spPr>
          <a:xfrm>
            <a:off x="731520" y="5349240"/>
            <a:ext cx="10698480" cy="502920"/>
          </a:xfrm>
          <a:prstGeom prst="rect">
            <a:avLst/>
          </a:prstGeom>
          <a:noFill/>
          <a:ln/>
        </p:spPr>
        <p:txBody>
          <a:bodyPr wrap="square" lIns="0" tIns="0" rIns="0" bIns="0" rtlCol="0" anchor="ctr"/>
          <a:lstStyle/>
          <a:p>
            <a:pPr indent="0" marL="0">
              <a:buNone/>
            </a:pPr>
            <a:r>
              <a:rPr lang="en-US" sz="1500" b="1" i="1" dirty="0">
                <a:solidFill>
                  <a:srgbClr val="00814A"/>
                </a:solidFill>
                <a:latin typeface="Calibri" pitchFamily="34" charset="0"/>
                <a:ea typeface="Calibri" pitchFamily="34" charset="-122"/>
                <a:cs typeface="Calibri" pitchFamily="34" charset="-120"/>
              </a:rPr>
              <a:t>La démonstration de fin d'année est garantie : le système complet tourne déjà sur le matériel GEN 2.</a:t>
            </a:r>
            <a:endParaRPr lang="en-US" sz="1500" dirty="0"/>
          </a:p>
        </p:txBody>
      </p:sp>
      <p:pic>
        <p:nvPicPr>
          <p:cNvPr id="14" name="Image 0" descr="logo_blindsystems.png">    </p:cNvPr>
          <p:cNvPicPr>
            <a:picLocks noChangeAspect="1"/>
          </p:cNvPicPr>
          <p:nvPr/>
        </p:nvPicPr>
        <p:blipFill>
          <a:blip r:embed="rId1"/>
          <a:stretch>
            <a:fillRect/>
          </a:stretch>
        </p:blipFill>
        <p:spPr>
          <a:xfrm>
            <a:off x="10497312" y="5971032"/>
            <a:ext cx="932688" cy="621792"/>
          </a:xfrm>
          <a:prstGeom prst="rect">
            <a:avLst/>
          </a:prstGeom>
        </p:spPr>
      </p:pic>
      <p:sp>
        <p:nvSpPr>
          <p:cNvPr id="15" name="Text 12"/>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6" name="Text 13"/>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2530"/>
        </a:solidFill>
      </p:bgPr>
    </p:bg>
    <p:spTree>
      <p:nvGrpSpPr>
        <p:cNvPr id="1" name=""/>
        <p:cNvGrpSpPr/>
        <p:nvPr/>
      </p:nvGrpSpPr>
      <p:grpSpPr>
        <a:xfrm>
          <a:off x="0" y="0"/>
          <a:ext cx="0" cy="0"/>
          <a:chOff x="0" y="0"/>
          <a:chExt cx="0" cy="0"/>
        </a:xfrm>
      </p:grpSpPr>
      <p:sp>
        <p:nvSpPr>
          <p:cNvPr id="2" name="Text 0"/>
          <p:cNvSpPr txBox="1"/>
          <p:nvPr/>
        </p:nvSpPr>
        <p:spPr>
          <a:xfrm>
            <a:off x="777240" y="77724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Pourquoi celui-là</a:t>
            </a:r>
            <a:endParaRPr lang="en-US" sz="3400" dirty="0"/>
          </a:p>
        </p:txBody>
      </p:sp>
      <p:sp>
        <p:nvSpPr>
          <p:cNvPr id="3" name="Shape 1"/>
          <p:cNvSpPr/>
          <p:nvPr/>
        </p:nvSpPr>
        <p:spPr>
          <a:xfrm>
            <a:off x="822960" y="2185416"/>
            <a:ext cx="384048" cy="384048"/>
          </a:xfrm>
          <a:prstGeom prst="ellipse">
            <a:avLst/>
          </a:prstGeom>
          <a:solidFill>
            <a:srgbClr val="00A65A"/>
          </a:solidFill>
          <a:ln/>
        </p:spPr>
      </p:sp>
      <p:sp>
        <p:nvSpPr>
          <p:cNvPr id="4" name="Text 2"/>
          <p:cNvSpPr txBox="1"/>
          <p:nvPr/>
        </p:nvSpPr>
        <p:spPr>
          <a:xfrm>
            <a:off x="1508760" y="2103120"/>
            <a:ext cx="667512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Un projet dont quelqu'un se servira vraiment</a:t>
            </a:r>
            <a:endParaRPr lang="en-US" sz="2000" dirty="0"/>
          </a:p>
        </p:txBody>
      </p:sp>
      <p:sp>
        <p:nvSpPr>
          <p:cNvPr id="5" name="Shape 3"/>
          <p:cNvSpPr/>
          <p:nvPr/>
        </p:nvSpPr>
        <p:spPr>
          <a:xfrm>
            <a:off x="822960" y="3099816"/>
            <a:ext cx="384048" cy="384048"/>
          </a:xfrm>
          <a:prstGeom prst="ellipse">
            <a:avLst/>
          </a:prstGeom>
          <a:solidFill>
            <a:srgbClr val="00A65A"/>
          </a:solidFill>
          <a:ln/>
        </p:spPr>
      </p:sp>
      <p:sp>
        <p:nvSpPr>
          <p:cNvPr id="6" name="Text 4"/>
          <p:cNvSpPr txBox="1"/>
          <p:nvPr/>
        </p:nvSpPr>
        <p:spPr>
          <a:xfrm>
            <a:off x="1508760" y="3017520"/>
            <a:ext cx="667512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La chaîne complète : capteur, IA embarquée, utilisateur</a:t>
            </a:r>
            <a:endParaRPr lang="en-US" sz="2000" dirty="0"/>
          </a:p>
        </p:txBody>
      </p:sp>
      <p:sp>
        <p:nvSpPr>
          <p:cNvPr id="7" name="Shape 5"/>
          <p:cNvSpPr/>
          <p:nvPr/>
        </p:nvSpPr>
        <p:spPr>
          <a:xfrm>
            <a:off x="822960" y="4014216"/>
            <a:ext cx="384048" cy="384048"/>
          </a:xfrm>
          <a:prstGeom prst="ellipse">
            <a:avLst/>
          </a:prstGeom>
          <a:solidFill>
            <a:srgbClr val="00A65A"/>
          </a:solidFill>
          <a:ln/>
        </p:spPr>
      </p:sp>
      <p:sp>
        <p:nvSpPr>
          <p:cNvPr id="8" name="Text 6"/>
          <p:cNvSpPr txBox="1"/>
          <p:nvPr/>
        </p:nvSpPr>
        <p:spPr>
          <a:xfrm>
            <a:off x="1508760" y="3931920"/>
            <a:ext cx="667512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Une démonstration que vous pourrez montrer, et garder</a:t>
            </a:r>
            <a:endParaRPr lang="en-US" sz="2000" dirty="0"/>
          </a:p>
        </p:txBody>
      </p:sp>
      <p:pic>
        <p:nvPicPr>
          <p:cNvPr id="9" name="Image 0" descr="mascotte_blindgeek.png">    </p:cNvPr>
          <p:cNvPicPr>
            <a:picLocks noChangeAspect="1"/>
          </p:cNvPicPr>
          <p:nvPr/>
        </p:nvPicPr>
        <p:blipFill>
          <a:blip r:embed="rId1"/>
          <a:stretch>
            <a:fillRect/>
          </a:stretch>
        </p:blipFill>
        <p:spPr>
          <a:xfrm>
            <a:off x="8412480" y="1600200"/>
            <a:ext cx="3017520" cy="3017520"/>
          </a:xfrm>
          <a:prstGeom prst="rect">
            <a:avLst/>
          </a:prstGeom>
        </p:spPr>
      </p:pic>
      <p:sp>
        <p:nvSpPr>
          <p:cNvPr id="10" name="Text 7"/>
          <p:cNvSpPr txBox="1"/>
          <p:nvPr/>
        </p:nvSpPr>
        <p:spPr>
          <a:xfrm>
            <a:off x="822960" y="4864608"/>
            <a:ext cx="7315200" cy="457200"/>
          </a:xfrm>
          <a:prstGeom prst="rect">
            <a:avLst/>
          </a:prstGeom>
          <a:noFill/>
          <a:ln/>
        </p:spPr>
        <p:txBody>
          <a:bodyPr wrap="square" lIns="0" tIns="0" rIns="0" bIns="0" rtlCol="0" anchor="ctr"/>
          <a:lstStyle/>
          <a:p>
            <a:pPr indent="0" marL="0">
              <a:buNone/>
            </a:pPr>
            <a:r>
              <a:rPr lang="en-US" sz="1800" b="1" dirty="0">
                <a:solidFill>
                  <a:srgbClr val="00A65A"/>
                </a:solidFill>
                <a:latin typeface="Calibri" pitchFamily="34" charset="0"/>
                <a:ea typeface="Calibri" pitchFamily="34" charset="-122"/>
                <a:cs typeface="Calibri" pitchFamily="34" charset="-120"/>
              </a:rPr>
              <a:t>Venez me voir à la fin de la séance.</a:t>
            </a:r>
            <a:endParaRPr lang="en-US" sz="1800" dirty="0"/>
          </a:p>
        </p:txBody>
      </p:sp>
      <p:sp>
        <p:nvSpPr>
          <p:cNvPr id="11" name="Text 8"/>
          <p:cNvSpPr txBox="1"/>
          <p:nvPr/>
        </p:nvSpPr>
        <p:spPr>
          <a:xfrm>
            <a:off x="822960" y="5376672"/>
            <a:ext cx="7315200" cy="365760"/>
          </a:xfrm>
          <a:prstGeom prst="rect">
            <a:avLst/>
          </a:prstGeom>
          <a:noFill/>
          <a:ln/>
        </p:spPr>
        <p:txBody>
          <a:bodyPr wrap="square" lIns="0" tIns="0" rIns="0" bIns="0" rtlCol="0" anchor="ctr"/>
          <a:lstStyle/>
          <a:p>
            <a:pPr indent="0" marL="0">
              <a:buNone/>
            </a:pPr>
            <a:r>
              <a:rPr lang="en-US" sz="1500" dirty="0">
                <a:solidFill>
                  <a:srgbClr val="7E909C"/>
                </a:solidFill>
                <a:latin typeface="Calibri" pitchFamily="34" charset="0"/>
                <a:ea typeface="Calibri" pitchFamily="34" charset="-122"/>
                <a:cs typeface="Calibri" pitchFamily="34" charset="-120"/>
              </a:rPr>
              <a:t>Proposé par : </a:t>
            </a:r>
            <a:pPr indent="0" marL="0">
              <a:buNone/>
            </a:pPr>
            <a:r>
              <a:rPr lang="en-US" sz="1500" b="1" dirty="0">
                <a:solidFill>
                  <a:srgbClr val="FFFFFF"/>
                </a:solidFill>
                <a:latin typeface="Calibri" pitchFamily="34" charset="0"/>
                <a:ea typeface="Calibri" pitchFamily="34" charset="-122"/>
                <a:cs typeface="Calibri" pitchFamily="34" charset="-120"/>
              </a:rPr>
              <a:t>Amine Khettat  ·  BLIND SYSTEMS</a:t>
            </a:r>
            <a:endParaRPr lang="en-US" sz="1500" dirty="0"/>
          </a:p>
        </p:txBody>
      </p:sp>
      <p:sp>
        <p:nvSpPr>
          <p:cNvPr id="12" name="Text 9"/>
          <p:cNvSpPr txBox="1"/>
          <p:nvPr/>
        </p:nvSpPr>
        <p:spPr>
          <a:xfrm>
            <a:off x="822960" y="5742432"/>
            <a:ext cx="7680960" cy="365760"/>
          </a:xfrm>
          <a:prstGeom prst="rect">
            <a:avLst/>
          </a:prstGeom>
          <a:noFill/>
          <a:ln/>
        </p:spPr>
        <p:txBody>
          <a:bodyPr wrap="square" lIns="0" tIns="0" rIns="0" bIns="0" rtlCol="0" anchor="ctr"/>
          <a:lstStyle/>
          <a:p>
            <a:pPr indent="0" marL="0">
              <a:buNone/>
            </a:pPr>
            <a:r>
              <a:rPr lang="en-US" sz="1500" dirty="0">
                <a:solidFill>
                  <a:srgbClr val="7E909C"/>
                </a:solidFill>
                <a:latin typeface="Calibri" pitchFamily="34" charset="0"/>
                <a:ea typeface="Calibri" pitchFamily="34" charset="-122"/>
                <a:cs typeface="Calibri" pitchFamily="34" charset="-120"/>
              </a:rPr>
              <a:t>E-mail : </a:t>
            </a:r>
            <a:pPr indent="0" marL="0">
              <a:buNone/>
            </a:pPr>
            <a:r>
              <a:rPr lang="en-US" sz="1500" dirty="0">
                <a:solidFill>
                  <a:srgbClr val="D5DEE5"/>
                </a:solidFill>
                <a:latin typeface="Calibri" pitchFamily="34" charset="0"/>
                <a:ea typeface="Calibri" pitchFamily="34" charset="-122"/>
                <a:cs typeface="Calibri" pitchFamily="34" charset="-120"/>
              </a:rPr>
              <a:t>contact@blindsystems.org  ·  www.blindsystems.org</a:t>
            </a:r>
            <a:endParaRPr lang="en-US" sz="1500" dirty="0"/>
          </a:p>
        </p:txBody>
      </p:sp>
      <p:pic>
        <p:nvPicPr>
          <p:cNvPr id="13" name="Image 1" descr="logo_blindsystems.png">    </p:cNvPr>
          <p:cNvPicPr>
            <a:picLocks noChangeAspect="1"/>
          </p:cNvPicPr>
          <p:nvPr/>
        </p:nvPicPr>
        <p:blipFill>
          <a:blip r:embed="rId2"/>
          <a:stretch>
            <a:fillRect/>
          </a:stretch>
        </p:blipFill>
        <p:spPr>
          <a:xfrm>
            <a:off x="10497312" y="5971032"/>
            <a:ext cx="932688" cy="621792"/>
          </a:xfrm>
          <a:prstGeom prst="rect">
            <a:avLst/>
          </a:prstGeom>
        </p:spPr>
      </p:pic>
      <p:sp>
        <p:nvSpPr>
          <p:cNvPr id="14" name="Text 10"/>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6E8290"/>
                </a:solidFill>
                <a:latin typeface="Calibri" pitchFamily="34" charset="0"/>
                <a:ea typeface="Calibri" pitchFamily="34" charset="-122"/>
                <a:cs typeface="Calibri" pitchFamily="34" charset="-120"/>
              </a:rPr>
              <a:t>www.blindsystems.org  ·  CyclopeGEN 3</a:t>
            </a:r>
            <a:endParaRPr lang="en-US" sz="1000" dirty="0"/>
          </a:p>
        </p:txBody>
      </p:sp>
      <p:sp>
        <p:nvSpPr>
          <p:cNvPr id="15" name="Text 11"/>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6E829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Annexe — jeux de données et versions de YOLO</a:t>
            </a:r>
            <a:endParaRPr lang="en-US" sz="3200" dirty="0"/>
          </a:p>
        </p:txBody>
      </p:sp>
      <p:sp>
        <p:nvSpPr>
          <p:cNvPr id="3" name="Text 1"/>
          <p:cNvSpPr txBox="1"/>
          <p:nvPr/>
        </p:nvSpPr>
        <p:spPr>
          <a:xfrm>
            <a:off x="731520" y="1325880"/>
            <a:ext cx="10698480" cy="320040"/>
          </a:xfrm>
          <a:prstGeom prst="rect">
            <a:avLst/>
          </a:prstGeom>
          <a:noFill/>
          <a:ln/>
        </p:spPr>
        <p:txBody>
          <a:bodyPr wrap="square" lIns="0" tIns="0" rIns="0" bIns="0" rtlCol="0" anchor="ctr"/>
          <a:lstStyle/>
          <a:p>
            <a:pPr indent="0" marL="0">
              <a:buNone/>
            </a:pPr>
            <a:r>
              <a:rPr lang="en-US" sz="1500" b="1" dirty="0">
                <a:solidFill>
                  <a:srgbClr val="00814A"/>
                </a:solidFill>
                <a:latin typeface="Calibri" pitchFamily="34" charset="0"/>
                <a:ea typeface="Calibri" pitchFamily="34" charset="-122"/>
                <a:cs typeface="Calibri" pitchFamily="34" charset="-120"/>
              </a:rPr>
              <a:t>Jeux de données utilisables directement</a:t>
            </a:r>
            <a:endParaRPr lang="en-US" sz="1500" dirty="0"/>
          </a:p>
        </p:txBody>
      </p:sp>
      <p:sp>
        <p:nvSpPr>
          <p:cNvPr id="4" name="Text 2"/>
          <p:cNvSpPr txBox="1"/>
          <p:nvPr/>
        </p:nvSpPr>
        <p:spPr>
          <a:xfrm>
            <a:off x="868680" y="1737360"/>
            <a:ext cx="10424160" cy="18288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CDSet / CDNet — passages piétons : 3 080 images d'entraînement, 1 770 de test, annotations déjà au format YOLO, deux classes (passage, flèche au sol)</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PTL / ImVisible — feux piétons : 5 059 images, cinq classes dont vert avec décompte, licence MIT ; le réseau LytNet tourne à 21 images/s sur un iPhone 7</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Ampel-Pilot — feux piétons allemands : 3 696 images, 4 311 annotations, licence MIT, collecté pour une application destinée aux malvoyants</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Et le jeu de données Cyclope 2024-2025, déjà constitué et augmenté par la promotion GEN 1</a:t>
            </a:r>
            <a:endParaRPr lang="en-US" sz="1350" dirty="0"/>
          </a:p>
        </p:txBody>
      </p:sp>
      <p:sp>
        <p:nvSpPr>
          <p:cNvPr id="5" name="Shape 3"/>
          <p:cNvSpPr/>
          <p:nvPr/>
        </p:nvSpPr>
        <p:spPr>
          <a:xfrm>
            <a:off x="731520" y="3520440"/>
            <a:ext cx="10698480" cy="685800"/>
          </a:xfrm>
          <a:prstGeom prst="roundRect">
            <a:avLst>
              <a:gd name="adj" fmla="val 13333"/>
            </a:avLst>
          </a:prstGeom>
          <a:solidFill>
            <a:srgbClr val="FBEFEC"/>
          </a:solidFill>
          <a:ln/>
        </p:spPr>
      </p:sp>
      <p:sp>
        <p:nvSpPr>
          <p:cNvPr id="6" name="Text 4"/>
          <p:cNvSpPr txBox="1"/>
          <p:nvPr/>
        </p:nvSpPr>
        <p:spPr>
          <a:xfrm>
            <a:off x="1005840" y="3611880"/>
            <a:ext cx="10149840" cy="502920"/>
          </a:xfrm>
          <a:prstGeom prst="rect">
            <a:avLst/>
          </a:prstGeom>
          <a:noFill/>
          <a:ln/>
        </p:spPr>
        <p:txBody>
          <a:bodyPr wrap="square" lIns="0" tIns="0" rIns="0" bIns="0" rtlCol="0" anchor="ctr"/>
          <a:lstStyle/>
          <a:p>
            <a:pPr indent="0" marL="0">
              <a:buNone/>
            </a:pPr>
            <a:r>
              <a:rPr lang="en-US" sz="1350" b="1" dirty="0">
                <a:solidFill>
                  <a:srgbClr val="C4402E"/>
                </a:solidFill>
                <a:latin typeface="Calibri" pitchFamily="34" charset="0"/>
                <a:ea typeface="Calibri" pitchFamily="34" charset="-122"/>
                <a:cs typeface="Calibri" pitchFamily="34" charset="-120"/>
              </a:rPr>
              <a:t>Attention : </a:t>
            </a:r>
            <a:pPr indent="0" marL="0">
              <a:buNone/>
            </a:pPr>
            <a:r>
              <a:rPr lang="en-US" sz="1350" dirty="0">
                <a:solidFill>
                  <a:srgbClr val="1C2530"/>
                </a:solidFill>
                <a:latin typeface="Calibri" pitchFamily="34" charset="0"/>
                <a:ea typeface="Calibri" pitchFamily="34" charset="-122"/>
                <a:cs typeface="Calibri" pitchFamily="34" charset="-120"/>
              </a:rPr>
              <a:t>Bosch, LISA et DriveU sont des jeux de feux véhicules vus depuis une voiture. Cyclope a besoin de feux piétons vus du trottoir — autre objet, autre point de vue.</a:t>
            </a:r>
            <a:endParaRPr lang="en-US" sz="1350" dirty="0"/>
          </a:p>
        </p:txBody>
      </p:sp>
      <p:sp>
        <p:nvSpPr>
          <p:cNvPr id="7" name="Text 5"/>
          <p:cNvSpPr txBox="1"/>
          <p:nvPr/>
        </p:nvSpPr>
        <p:spPr>
          <a:xfrm>
            <a:off x="731520" y="4434840"/>
            <a:ext cx="10698480" cy="320040"/>
          </a:xfrm>
          <a:prstGeom prst="rect">
            <a:avLst/>
          </a:prstGeom>
          <a:noFill/>
          <a:ln/>
        </p:spPr>
        <p:txBody>
          <a:bodyPr wrap="square" lIns="0" tIns="0" rIns="0" bIns="0" rtlCol="0" anchor="ctr"/>
          <a:lstStyle/>
          <a:p>
            <a:pPr indent="0" marL="0">
              <a:buNone/>
            </a:pPr>
            <a:r>
              <a:rPr lang="en-US" sz="1500" b="1" dirty="0">
                <a:solidFill>
                  <a:srgbClr val="00814A"/>
                </a:solidFill>
                <a:latin typeface="Calibri" pitchFamily="34" charset="0"/>
                <a:ea typeface="Calibri" pitchFamily="34" charset="-122"/>
                <a:cs typeface="Calibri" pitchFamily="34" charset="-120"/>
              </a:rPr>
              <a:t>Versions de YOLO</a:t>
            </a:r>
            <a:endParaRPr lang="en-US" sz="1500" dirty="0"/>
          </a:p>
        </p:txBody>
      </p:sp>
      <p:sp>
        <p:nvSpPr>
          <p:cNvPr id="8" name="Text 6"/>
          <p:cNvSpPr txBox="1"/>
          <p:nvPr/>
        </p:nvSpPr>
        <p:spPr>
          <a:xfrm>
            <a:off x="868680" y="4846320"/>
            <a:ext cx="10424160" cy="13716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YOLOv5 : celui de CDNet, le seul si l'on veut réutiliser des poids existants tels quels — YOLOv8 puis YOLO11, celui déjà entraîné en GEN 1 : écosystème mature</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YOLO26 (janvier 2026) : inférence sans NMS, donc plus de post-traitement à réimplémenter sur mobile, environ 43 % plus rapide sur CPU, export LiteRT</a:t>
            </a:r>
            <a:endParaRPr lang="en-US" sz="1350" dirty="0"/>
          </a:p>
          <a:p>
            <a:pPr marL="342900" indent="-342900">
              <a:spcAft>
                <a:spcPts val="900"/>
              </a:spcAft>
              <a:buSzPct val="100000"/>
              <a:buChar char="•"/>
            </a:pPr>
            <a:r>
              <a:rPr lang="en-US" sz="1350" dirty="0">
                <a:solidFill>
                  <a:srgbClr val="1C2530"/>
                </a:solidFill>
                <a:latin typeface="Calibri" pitchFamily="34" charset="0"/>
                <a:ea typeface="Calibri" pitchFamily="34" charset="-122"/>
                <a:cs typeface="Calibri" pitchFamily="34" charset="-120"/>
              </a:rPr>
              <a:t>Licence AGPL-3.0 pour tous les modèles Ultralytics ; YOLOX est en Apache 2.0 si une exploitation commerciale est envisagée un jour</a:t>
            </a:r>
            <a:endParaRPr lang="en-US" sz="1350" dirty="0"/>
          </a:p>
        </p:txBody>
      </p:sp>
      <p:pic>
        <p:nvPicPr>
          <p:cNvPr id="9" name="Image 0" descr="logo_blindsystems.png">    </p:cNvPr>
          <p:cNvPicPr>
            <a:picLocks noChangeAspect="1"/>
          </p:cNvPicPr>
          <p:nvPr/>
        </p:nvPicPr>
        <p:blipFill>
          <a:blip r:embed="rId1"/>
          <a:stretch>
            <a:fillRect/>
          </a:stretch>
        </p:blipFill>
        <p:spPr>
          <a:xfrm>
            <a:off x="10497312" y="5971032"/>
            <a:ext cx="932688" cy="621792"/>
          </a:xfrm>
          <a:prstGeom prst="rect">
            <a:avLst/>
          </a:prstGeom>
        </p:spPr>
      </p:pic>
      <p:sp>
        <p:nvSpPr>
          <p:cNvPr id="10" name="Text 7"/>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1" name="Text 8"/>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Annexe — le contrat d'interface</a:t>
            </a:r>
            <a:endParaRPr lang="en-US" sz="3200" dirty="0"/>
          </a:p>
        </p:txBody>
      </p:sp>
      <p:sp>
        <p:nvSpPr>
          <p:cNvPr id="3" name="Text 1"/>
          <p:cNvSpPr txBox="1"/>
          <p:nvPr/>
        </p:nvSpPr>
        <p:spPr>
          <a:xfrm>
            <a:off x="777240" y="1325880"/>
            <a:ext cx="3200400" cy="777240"/>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Le sens de la liaison wifi</a:t>
            </a:r>
            <a:endParaRPr lang="en-US" sz="1400" dirty="0"/>
          </a:p>
        </p:txBody>
      </p:sp>
      <p:sp>
        <p:nvSpPr>
          <p:cNvPr id="4" name="Text 2"/>
          <p:cNvSpPr txBox="1"/>
          <p:nvPr/>
        </p:nvSpPr>
        <p:spPr>
          <a:xfrm>
            <a:off x="4114800" y="1325880"/>
            <a:ext cx="7315200" cy="7772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Le téléphone active son point d'accès, le module s'y connecte. La 4G reste la route internet du téléphone : aucun conflit de réseau.</a:t>
            </a:r>
            <a:endParaRPr lang="en-US" sz="1350" dirty="0"/>
          </a:p>
        </p:txBody>
      </p:sp>
      <p:sp>
        <p:nvSpPr>
          <p:cNvPr id="5" name="Text 3"/>
          <p:cNvSpPr txBox="1"/>
          <p:nvPr/>
        </p:nvSpPr>
        <p:spPr>
          <a:xfrm>
            <a:off x="777240" y="2240280"/>
            <a:ext cx="3200400" cy="777240"/>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Ce que porte le protocole</a:t>
            </a:r>
            <a:endParaRPr lang="en-US" sz="1400" dirty="0"/>
          </a:p>
        </p:txBody>
      </p:sp>
      <p:sp>
        <p:nvSpPr>
          <p:cNvPr id="6" name="Text 4"/>
          <p:cNvSpPr txBox="1"/>
          <p:nvPr/>
        </p:nvSpPr>
        <p:spPr>
          <a:xfrm>
            <a:off x="4114800" y="2240280"/>
            <a:ext cx="7315200" cy="7772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Trames JPEG, audio des commandes vocales, événements bouton, état du lien. Figé avant le démarrage, identique pour le M5Stick et pour la carte finale.</a:t>
            </a:r>
            <a:endParaRPr lang="en-US" sz="1350" dirty="0"/>
          </a:p>
        </p:txBody>
      </p:sp>
      <p:sp>
        <p:nvSpPr>
          <p:cNvPr id="7" name="Text 5"/>
          <p:cNvSpPr txBox="1"/>
          <p:nvPr/>
        </p:nvSpPr>
        <p:spPr>
          <a:xfrm>
            <a:off x="777240" y="3154680"/>
            <a:ext cx="3200400" cy="777240"/>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Le retour vocal</a:t>
            </a:r>
            <a:endParaRPr lang="en-US" sz="1400" dirty="0"/>
          </a:p>
        </p:txBody>
      </p:sp>
      <p:sp>
        <p:nvSpPr>
          <p:cNvPr id="8" name="Text 6"/>
          <p:cNvSpPr txBox="1"/>
          <p:nvPr/>
        </p:nvSpPr>
        <p:spPr>
          <a:xfrm>
            <a:off x="4114800" y="3154680"/>
            <a:ext cx="7315200" cy="7772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L'application envoie une commande de lecture au téléphone, qui route vers sa sortie — haut-parleur, écouteurs filaires ou Bluetooth. Hors périmètre du projet.</a:t>
            </a:r>
            <a:endParaRPr lang="en-US" sz="1350" dirty="0"/>
          </a:p>
        </p:txBody>
      </p:sp>
      <p:sp>
        <p:nvSpPr>
          <p:cNvPr id="9" name="Text 7"/>
          <p:cNvSpPr txBox="1"/>
          <p:nvPr/>
        </p:nvSpPr>
        <p:spPr>
          <a:xfrm>
            <a:off x="777240" y="4069080"/>
            <a:ext cx="3200400" cy="777240"/>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Deux liens surveillés, deux alertes</a:t>
            </a:r>
            <a:endParaRPr lang="en-US" sz="1400" dirty="0"/>
          </a:p>
        </p:txBody>
      </p:sp>
      <p:sp>
        <p:nvSpPr>
          <p:cNvPr id="10" name="Text 8"/>
          <p:cNvSpPr txBox="1"/>
          <p:nvPr/>
        </p:nvSpPr>
        <p:spPr>
          <a:xfrm>
            <a:off x="4114800" y="4069080"/>
            <a:ext cx="7315200" cy="7772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Le firmware surveille le wifi et alerte sur son propre haut-parleur, seul cas où le téléphone ne peut plus parler. L'application surveille la liaison de données.</a:t>
            </a:r>
            <a:endParaRPr lang="en-US" sz="1350" dirty="0"/>
          </a:p>
        </p:txBody>
      </p:sp>
      <p:sp>
        <p:nvSpPr>
          <p:cNvPr id="11" name="Text 9"/>
          <p:cNvSpPr txBox="1"/>
          <p:nvPr/>
        </p:nvSpPr>
        <p:spPr>
          <a:xfrm>
            <a:off x="777240" y="4983480"/>
            <a:ext cx="3200400" cy="777240"/>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Les substituts</a:t>
            </a:r>
            <a:endParaRPr lang="en-US" sz="1400" dirty="0"/>
          </a:p>
        </p:txBody>
      </p:sp>
      <p:sp>
        <p:nvSpPr>
          <p:cNvPr id="12" name="Text 10"/>
          <p:cNvSpPr txBox="1"/>
          <p:nvPr/>
        </p:nvSpPr>
        <p:spPr>
          <a:xfrm>
            <a:off x="4114800" y="4983480"/>
            <a:ext cx="7315200" cy="777240"/>
          </a:xfrm>
          <a:prstGeom prst="rect">
            <a:avLst/>
          </a:prstGeom>
          <a:noFill/>
          <a:ln/>
        </p:spPr>
        <p:txBody>
          <a:bodyPr wrap="square" lIns="0" tIns="0" rIns="0" bIns="0" rtlCol="0" anchor="t"/>
          <a:lstStyle/>
          <a:p>
            <a:pPr indent="0" marL="0">
              <a:buNone/>
            </a:pPr>
            <a:r>
              <a:rPr lang="en-US" sz="1350" dirty="0">
                <a:solidFill>
                  <a:srgbClr val="1C2530"/>
                </a:solidFill>
                <a:latin typeface="Calibri" pitchFamily="34" charset="0"/>
                <a:ea typeface="Calibri" pitchFamily="34" charset="-122"/>
                <a:cs typeface="Calibri" pitchFamily="34" charset="-120"/>
              </a:rPr>
              <a:t>Vision et firmware démarrent sur les deux cartes DFRobot de GEN 2, la navigation sur le M5Stick C Plus, lui aussi en wifi. Aucune brique n'attend une autre.</a:t>
            </a:r>
            <a:endParaRPr lang="en-US" sz="1350" dirty="0"/>
          </a:p>
        </p:txBody>
      </p:sp>
      <p:sp>
        <p:nvSpPr>
          <p:cNvPr id="13" name="Text 11"/>
          <p:cNvSpPr txBox="1"/>
          <p:nvPr/>
        </p:nvSpPr>
        <p:spPr>
          <a:xfrm>
            <a:off x="777240" y="5852160"/>
            <a:ext cx="10607040" cy="457200"/>
          </a:xfrm>
          <a:prstGeom prst="rect">
            <a:avLst/>
          </a:prstGeom>
          <a:noFill/>
          <a:ln/>
        </p:spPr>
        <p:txBody>
          <a:bodyPr wrap="square" lIns="0" tIns="0" rIns="0" bIns="0" rtlCol="0" anchor="ctr"/>
          <a:lstStyle/>
          <a:p>
            <a:pPr indent="0" marL="0">
              <a:buNone/>
            </a:pPr>
            <a:r>
              <a:rPr lang="en-US" sz="1300" i="1" dirty="0">
                <a:solidFill>
                  <a:srgbClr val="5A6B79"/>
                </a:solidFill>
                <a:latin typeface="Calibri" pitchFamily="34" charset="0"/>
                <a:ea typeface="Calibri" pitchFamily="34" charset="-122"/>
                <a:cs typeface="Calibri" pitchFamily="34" charset="-120"/>
              </a:rPr>
              <a:t>Question ouverte à traiter dès la conception : comment le module apprend-il le nom et le mot de passe du point d'accès, sans écran ni clavier ?</a:t>
            </a:r>
            <a:endParaRPr lang="en-US" sz="1300" dirty="0"/>
          </a:p>
        </p:txBody>
      </p:sp>
      <p:pic>
        <p:nvPicPr>
          <p:cNvPr id="14" name="Image 0" descr="logo_blindsystems.png">    </p:cNvPr>
          <p:cNvPicPr>
            <a:picLocks noChangeAspect="1"/>
          </p:cNvPicPr>
          <p:nvPr/>
        </p:nvPicPr>
        <p:blipFill>
          <a:blip r:embed="rId1"/>
          <a:stretch>
            <a:fillRect/>
          </a:stretch>
        </p:blipFill>
        <p:spPr>
          <a:xfrm>
            <a:off x="10497312" y="5971032"/>
            <a:ext cx="932688" cy="621792"/>
          </a:xfrm>
          <a:prstGeom prst="rect">
            <a:avLst/>
          </a:prstGeom>
        </p:spPr>
      </p:pic>
      <p:sp>
        <p:nvSpPr>
          <p:cNvPr id="15" name="Text 12"/>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6" name="Text 13"/>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Annexe — l'état de l'art</a:t>
            </a:r>
            <a:endParaRPr lang="en-US" sz="3200" dirty="0"/>
          </a:p>
        </p:txBody>
      </p:sp>
      <p:sp>
        <p:nvSpPr>
          <p:cNvPr id="3" name="Text 1"/>
          <p:cNvSpPr txBox="1"/>
          <p:nvPr/>
        </p:nvSpPr>
        <p:spPr>
          <a:xfrm>
            <a:off x="777240" y="1298448"/>
            <a:ext cx="2834640" cy="658368"/>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OrCam MyEye</a:t>
            </a:r>
            <a:endParaRPr lang="en-US" sz="1400" dirty="0"/>
          </a:p>
        </p:txBody>
      </p:sp>
      <p:sp>
        <p:nvSpPr>
          <p:cNvPr id="4" name="Text 2"/>
          <p:cNvSpPr txBox="1"/>
          <p:nvPr/>
        </p:nvSpPr>
        <p:spPr>
          <a:xfrm>
            <a:off x="3794760" y="1298448"/>
            <a:ext cx="7635240" cy="658368"/>
          </a:xfrm>
          <a:prstGeom prst="rect">
            <a:avLst/>
          </a:prstGeom>
          <a:noFill/>
          <a:ln/>
        </p:spPr>
        <p:txBody>
          <a:bodyPr wrap="square" lIns="0" tIns="0" rIns="0" bIns="0" rtlCol="0" anchor="t"/>
          <a:lstStyle/>
          <a:p>
            <a:pPr indent="0" marL="0">
              <a:buNone/>
            </a:pPr>
            <a:r>
              <a:rPr lang="en-US" sz="1250" dirty="0">
                <a:solidFill>
                  <a:srgbClr val="1C2530"/>
                </a:solidFill>
                <a:latin typeface="Calibri" pitchFamily="34" charset="0"/>
                <a:ea typeface="Calibri" pitchFamily="34" charset="-122"/>
                <a:cs typeface="Calibri" pitchFamily="34" charset="-120"/>
              </a:rPr>
              <a:t>Un boîtier qui se clipse sur la monture de lunettes. Lit le texte à voix haute, reconnaît visages et objets, traitement embarqué. C'est notre référence de format et de poids.</a:t>
            </a:r>
            <a:endParaRPr lang="en-US" sz="1250" dirty="0"/>
          </a:p>
        </p:txBody>
      </p:sp>
      <p:sp>
        <p:nvSpPr>
          <p:cNvPr id="5" name="Text 3"/>
          <p:cNvSpPr txBox="1"/>
          <p:nvPr/>
        </p:nvSpPr>
        <p:spPr>
          <a:xfrm>
            <a:off x="777240" y="2029968"/>
            <a:ext cx="2834640" cy="658368"/>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Envision Glasses</a:t>
            </a:r>
            <a:endParaRPr lang="en-US" sz="1400" dirty="0"/>
          </a:p>
        </p:txBody>
      </p:sp>
      <p:sp>
        <p:nvSpPr>
          <p:cNvPr id="6" name="Text 4"/>
          <p:cNvSpPr txBox="1"/>
          <p:nvPr/>
        </p:nvSpPr>
        <p:spPr>
          <a:xfrm>
            <a:off x="3794760" y="2029968"/>
            <a:ext cx="7635240" cy="658368"/>
          </a:xfrm>
          <a:prstGeom prst="rect">
            <a:avLst/>
          </a:prstGeom>
          <a:noFill/>
          <a:ln/>
        </p:spPr>
        <p:txBody>
          <a:bodyPr wrap="square" lIns="0" tIns="0" rIns="0" bIns="0" rtlCol="0" anchor="t"/>
          <a:lstStyle/>
          <a:p>
            <a:pPr indent="0" marL="0">
              <a:buNone/>
            </a:pPr>
            <a:r>
              <a:rPr lang="en-US" sz="1250" dirty="0">
                <a:solidFill>
                  <a:srgbClr val="1C2530"/>
                </a:solidFill>
                <a:latin typeface="Calibri" pitchFamily="34" charset="0"/>
                <a:ea typeface="Calibri" pitchFamily="34" charset="-122"/>
                <a:cs typeface="Calibri" pitchFamily="34" charset="-120"/>
              </a:rPr>
              <a:t>Des lunettes connectées : lecture de texte, description de scène, appel à un proche voyant. Orientées lecture et reconnaissance.</a:t>
            </a:r>
            <a:endParaRPr lang="en-US" sz="1250" dirty="0"/>
          </a:p>
        </p:txBody>
      </p:sp>
      <p:sp>
        <p:nvSpPr>
          <p:cNvPr id="7" name="Text 5"/>
          <p:cNvSpPr txBox="1"/>
          <p:nvPr/>
        </p:nvSpPr>
        <p:spPr>
          <a:xfrm>
            <a:off x="777240" y="2761488"/>
            <a:ext cx="2834640" cy="658368"/>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eSight</a:t>
            </a:r>
            <a:endParaRPr lang="en-US" sz="1400" dirty="0"/>
          </a:p>
        </p:txBody>
      </p:sp>
      <p:sp>
        <p:nvSpPr>
          <p:cNvPr id="8" name="Text 6"/>
          <p:cNvSpPr txBox="1"/>
          <p:nvPr/>
        </p:nvSpPr>
        <p:spPr>
          <a:xfrm>
            <a:off x="3794760" y="2761488"/>
            <a:ext cx="7635240" cy="658368"/>
          </a:xfrm>
          <a:prstGeom prst="rect">
            <a:avLst/>
          </a:prstGeom>
          <a:noFill/>
          <a:ln/>
        </p:spPr>
        <p:txBody>
          <a:bodyPr wrap="square" lIns="0" tIns="0" rIns="0" bIns="0" rtlCol="0" anchor="t"/>
          <a:lstStyle/>
          <a:p>
            <a:pPr indent="0" marL="0">
              <a:buNone/>
            </a:pPr>
            <a:r>
              <a:rPr lang="en-US" sz="1250" dirty="0">
                <a:solidFill>
                  <a:srgbClr val="1C2530"/>
                </a:solidFill>
                <a:latin typeface="Calibri" pitchFamily="34" charset="0"/>
                <a:ea typeface="Calibri" pitchFamily="34" charset="-122"/>
                <a:cs typeface="Calibri" pitchFamily="34" charset="-120"/>
              </a:rPr>
              <a:t>Des lunettes à écrans internes qui amplifient et retraitent l'image. Conçues pour la vision résiduelle, donc pas pour les non-voyants.</a:t>
            </a:r>
            <a:endParaRPr lang="en-US" sz="1250" dirty="0"/>
          </a:p>
        </p:txBody>
      </p:sp>
      <p:sp>
        <p:nvSpPr>
          <p:cNvPr id="9" name="Text 7"/>
          <p:cNvSpPr txBox="1"/>
          <p:nvPr/>
        </p:nvSpPr>
        <p:spPr>
          <a:xfrm>
            <a:off x="777240" y="3493008"/>
            <a:ext cx="2834640" cy="658368"/>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Aira</a:t>
            </a:r>
            <a:endParaRPr lang="en-US" sz="1400" dirty="0"/>
          </a:p>
        </p:txBody>
      </p:sp>
      <p:sp>
        <p:nvSpPr>
          <p:cNvPr id="10" name="Text 8"/>
          <p:cNvSpPr txBox="1"/>
          <p:nvPr/>
        </p:nvSpPr>
        <p:spPr>
          <a:xfrm>
            <a:off x="3794760" y="3493008"/>
            <a:ext cx="7635240" cy="658368"/>
          </a:xfrm>
          <a:prstGeom prst="rect">
            <a:avLst/>
          </a:prstGeom>
          <a:noFill/>
          <a:ln/>
        </p:spPr>
        <p:txBody>
          <a:bodyPr wrap="square" lIns="0" tIns="0" rIns="0" bIns="0" rtlCol="0" anchor="t"/>
          <a:lstStyle/>
          <a:p>
            <a:pPr indent="0" marL="0">
              <a:buNone/>
            </a:pPr>
            <a:r>
              <a:rPr lang="en-US" sz="1250" dirty="0">
                <a:solidFill>
                  <a:srgbClr val="1C2530"/>
                </a:solidFill>
                <a:latin typeface="Calibri" pitchFamily="34" charset="0"/>
                <a:ea typeface="Calibri" pitchFamily="34" charset="-122"/>
                <a:cs typeface="Calibri" pitchFamily="34" charset="-120"/>
              </a:rPr>
              <a:t>Un service d'agents humains formés, joignables depuis l'application, qui décrivent la scène en direct par la caméra. Sur abonnement.</a:t>
            </a:r>
            <a:endParaRPr lang="en-US" sz="1250" dirty="0"/>
          </a:p>
        </p:txBody>
      </p:sp>
      <p:sp>
        <p:nvSpPr>
          <p:cNvPr id="11" name="Text 9"/>
          <p:cNvSpPr txBox="1"/>
          <p:nvPr/>
        </p:nvSpPr>
        <p:spPr>
          <a:xfrm>
            <a:off x="777240" y="4224528"/>
            <a:ext cx="2834640" cy="658368"/>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Be My Eyes</a:t>
            </a:r>
            <a:endParaRPr lang="en-US" sz="1400" dirty="0"/>
          </a:p>
        </p:txBody>
      </p:sp>
      <p:sp>
        <p:nvSpPr>
          <p:cNvPr id="12" name="Text 10"/>
          <p:cNvSpPr txBox="1"/>
          <p:nvPr/>
        </p:nvSpPr>
        <p:spPr>
          <a:xfrm>
            <a:off x="3794760" y="4224528"/>
            <a:ext cx="7635240" cy="658368"/>
          </a:xfrm>
          <a:prstGeom prst="rect">
            <a:avLst/>
          </a:prstGeom>
          <a:noFill/>
          <a:ln/>
        </p:spPr>
        <p:txBody>
          <a:bodyPr wrap="square" lIns="0" tIns="0" rIns="0" bIns="0" rtlCol="0" anchor="t"/>
          <a:lstStyle/>
          <a:p>
            <a:pPr indent="0" marL="0">
              <a:buNone/>
            </a:pPr>
            <a:r>
              <a:rPr lang="en-US" sz="1250" dirty="0">
                <a:solidFill>
                  <a:srgbClr val="1C2530"/>
                </a:solidFill>
                <a:latin typeface="Calibri" pitchFamily="34" charset="0"/>
                <a:ea typeface="Calibri" pitchFamily="34" charset="-122"/>
                <a:cs typeface="Calibri" pitchFamily="34" charset="-120"/>
              </a:rPr>
              <a:t>Une application gratuite qui met en relation avec des bénévoles voyants, doublée d'une description automatique par IA.</a:t>
            </a:r>
            <a:endParaRPr lang="en-US" sz="1250" dirty="0"/>
          </a:p>
        </p:txBody>
      </p:sp>
      <p:sp>
        <p:nvSpPr>
          <p:cNvPr id="13" name="Text 11"/>
          <p:cNvSpPr txBox="1"/>
          <p:nvPr/>
        </p:nvSpPr>
        <p:spPr>
          <a:xfrm>
            <a:off x="777240" y="4956048"/>
            <a:ext cx="2834640" cy="658368"/>
          </a:xfrm>
          <a:prstGeom prst="rect">
            <a:avLst/>
          </a:prstGeom>
          <a:noFill/>
          <a:ln/>
        </p:spPr>
        <p:txBody>
          <a:bodyPr wrap="square" lIns="0" tIns="0" rIns="0" bIns="0" rtlCol="0" anchor="t"/>
          <a:lstStyle/>
          <a:p>
            <a:pPr indent="0" marL="0">
              <a:buNone/>
            </a:pPr>
            <a:r>
              <a:rPr lang="en-US" sz="1400" b="1" dirty="0">
                <a:solidFill>
                  <a:srgbClr val="00814A"/>
                </a:solidFill>
                <a:latin typeface="Calibri" pitchFamily="34" charset="0"/>
                <a:ea typeface="Calibri" pitchFamily="34" charset="-122"/>
                <a:cs typeface="Calibri" pitchFamily="34" charset="-120"/>
              </a:rPr>
              <a:t>Rango, de GoSense</a:t>
            </a:r>
            <a:endParaRPr lang="en-US" sz="1400" dirty="0"/>
          </a:p>
        </p:txBody>
      </p:sp>
      <p:sp>
        <p:nvSpPr>
          <p:cNvPr id="14" name="Text 12"/>
          <p:cNvSpPr txBox="1"/>
          <p:nvPr/>
        </p:nvSpPr>
        <p:spPr>
          <a:xfrm>
            <a:off x="3794760" y="4956048"/>
            <a:ext cx="7635240" cy="658368"/>
          </a:xfrm>
          <a:prstGeom prst="rect">
            <a:avLst/>
          </a:prstGeom>
          <a:noFill/>
          <a:ln/>
        </p:spPr>
        <p:txBody>
          <a:bodyPr wrap="square" lIns="0" tIns="0" rIns="0" bIns="0" rtlCol="0" anchor="t"/>
          <a:lstStyle/>
          <a:p>
            <a:pPr indent="0" marL="0">
              <a:buNone/>
            </a:pPr>
            <a:r>
              <a:rPr lang="en-US" sz="1250" dirty="0">
                <a:solidFill>
                  <a:srgbClr val="1C2530"/>
                </a:solidFill>
                <a:latin typeface="Calibri" pitchFamily="34" charset="0"/>
                <a:ea typeface="Calibri" pitchFamily="34" charset="-122"/>
                <a:cs typeface="Calibri" pitchFamily="34" charset="-120"/>
              </a:rPr>
              <a:t>Un boîtier français qui se clipse sur la canne blanche : détection d'obstacles et guidage sonore, avec dictée d'adresse. Le plus proche de nous.</a:t>
            </a:r>
            <a:endParaRPr lang="en-US" sz="1250" dirty="0"/>
          </a:p>
        </p:txBody>
      </p:sp>
      <p:sp>
        <p:nvSpPr>
          <p:cNvPr id="15" name="Text 13"/>
          <p:cNvSpPr txBox="1"/>
          <p:nvPr/>
        </p:nvSpPr>
        <p:spPr>
          <a:xfrm>
            <a:off x="777240" y="5779008"/>
            <a:ext cx="10607040" cy="411480"/>
          </a:xfrm>
          <a:prstGeom prst="rect">
            <a:avLst/>
          </a:prstGeom>
          <a:noFill/>
          <a:ln/>
        </p:spPr>
        <p:txBody>
          <a:bodyPr wrap="square" lIns="0" tIns="0" rIns="0" bIns="0" rtlCol="0" anchor="ctr"/>
          <a:lstStyle/>
          <a:p>
            <a:pPr indent="0" marL="0">
              <a:buNone/>
            </a:pPr>
            <a:r>
              <a:rPr lang="en-US" sz="1400" b="1" i="1" dirty="0">
                <a:solidFill>
                  <a:srgbClr val="00814A"/>
                </a:solidFill>
                <a:latin typeface="Calibri" pitchFamily="34" charset="0"/>
                <a:ea typeface="Calibri" pitchFamily="34" charset="-122"/>
                <a:cs typeface="Calibri" pitchFamily="34" charset="-120"/>
              </a:rPr>
              <a:t>Aucun des six ne traite la traversée de rue : ni où traverser, ni quand. C'est précisément là que Cyclope se place.</a:t>
            </a:r>
            <a:endParaRPr lang="en-US" sz="1400" dirty="0"/>
          </a:p>
        </p:txBody>
      </p:sp>
      <p:pic>
        <p:nvPicPr>
          <p:cNvPr id="16" name="Image 0" descr="logo_blindsystems.png">    </p:cNvPr>
          <p:cNvPicPr>
            <a:picLocks noChangeAspect="1"/>
          </p:cNvPicPr>
          <p:nvPr/>
        </p:nvPicPr>
        <p:blipFill>
          <a:blip r:embed="rId1"/>
          <a:stretch>
            <a:fillRect/>
          </a:stretch>
        </p:blipFill>
        <p:spPr>
          <a:xfrm>
            <a:off x="10497312" y="5971032"/>
            <a:ext cx="932688" cy="621792"/>
          </a:xfrm>
          <a:prstGeom prst="rect">
            <a:avLst/>
          </a:prstGeom>
        </p:spPr>
      </p:pic>
      <p:sp>
        <p:nvSpPr>
          <p:cNvPr id="17" name="Text 14"/>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18" name="Text 15"/>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698480" cy="868680"/>
          </a:xfrm>
          <a:prstGeom prst="rect">
            <a:avLst/>
          </a:prstGeom>
          <a:noFill/>
          <a:ln/>
        </p:spPr>
        <p:txBody>
          <a:bodyPr wrap="square" lIns="0" tIns="0" rIns="0" bIns="0" rtlCol="0" anchor="ctr"/>
          <a:lstStyle/>
          <a:p>
            <a:pPr indent="0" marL="0">
              <a:buNone/>
            </a:pPr>
            <a:r>
              <a:rPr lang="en-US" sz="3200" b="1" dirty="0">
                <a:solidFill>
                  <a:srgbClr val="1C2530"/>
                </a:solidFill>
                <a:latin typeface="Cambria" pitchFamily="34" charset="0"/>
                <a:ea typeface="Cambria" pitchFamily="34" charset="-122"/>
                <a:cs typeface="Cambria" pitchFamily="34" charset="-120"/>
              </a:rPr>
              <a:t>Annexe — références</a:t>
            </a:r>
            <a:endParaRPr lang="en-US" sz="3200" dirty="0"/>
          </a:p>
        </p:txBody>
      </p:sp>
      <p:sp>
        <p:nvSpPr>
          <p:cNvPr id="3" name="Text 1"/>
          <p:cNvSpPr txBox="1"/>
          <p:nvPr/>
        </p:nvSpPr>
        <p:spPr>
          <a:xfrm>
            <a:off x="868680" y="1463040"/>
            <a:ext cx="10424160" cy="438912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CDSet, jeu de données passages piétons — zenodo.org/records/8289874</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CDNet, détection de passages piétons temps réel — github.com/zhangzhengde0225/CDNet</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ImVisible et LytNet, feux piétons pour malvoyants — github.com/samuelyu2002/ImVisible</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Ampel-Pilot, feux piétons allemands — github.com/patVlnta/Ampel-Pilot-Dataset</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Ultralytics YOLO26 — docs.ultralytics.com/models/yolo26</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monicz.dev — cartographie automatique de passages piétons sur OpenStreetMap</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OrCam MyEye 3 Pro — 22,5 g, 76 × 21 × 14,9 mm, fixation magnétique sur la branche</a:t>
            </a:r>
            <a:endParaRPr lang="en-US" sz="1450" dirty="0"/>
          </a:p>
          <a:p>
            <a:pPr marL="342900" indent="-342900">
              <a:spcAft>
                <a:spcPts val="900"/>
              </a:spcAft>
              <a:buSzPct val="100000"/>
              <a:buChar char="•"/>
            </a:pPr>
            <a:r>
              <a:rPr lang="en-US" sz="1450" dirty="0">
                <a:solidFill>
                  <a:srgbClr val="1C2530"/>
                </a:solidFill>
                <a:latin typeface="Calibri" pitchFamily="34" charset="0"/>
                <a:ea typeface="Calibri" pitchFamily="34" charset="-122"/>
                <a:cs typeface="Calibri" pitchFamily="34" charset="-120"/>
              </a:rPr>
              <a:t>Rango, de GoSense (Lyon) — la référence française du guidage pour non-voyants</a:t>
            </a:r>
            <a:endParaRPr lang="en-US" sz="1450" dirty="0"/>
          </a:p>
        </p:txBody>
      </p:sp>
      <p:pic>
        <p:nvPicPr>
          <p:cNvPr id="4" name="Image 0" descr="logo_blindsystems.png">    </p:cNvPr>
          <p:cNvPicPr>
            <a:picLocks noChangeAspect="1"/>
          </p:cNvPicPr>
          <p:nvPr/>
        </p:nvPicPr>
        <p:blipFill>
          <a:blip r:embed="rId1"/>
          <a:stretch>
            <a:fillRect/>
          </a:stretch>
        </p:blipFill>
        <p:spPr>
          <a:xfrm>
            <a:off x="10497312" y="5971032"/>
            <a:ext cx="932688" cy="621792"/>
          </a:xfrm>
          <a:prstGeom prst="rect">
            <a:avLst/>
          </a:prstGeom>
        </p:spPr>
      </p:pic>
      <p:sp>
        <p:nvSpPr>
          <p:cNvPr id="5" name="Text 2"/>
          <p:cNvSpPr txBox="1"/>
          <p:nvPr/>
        </p:nvSpPr>
        <p:spPr>
          <a:xfrm>
            <a:off x="731520" y="6327648"/>
            <a:ext cx="5486400" cy="292608"/>
          </a:xfrm>
          <a:prstGeom prst="rect">
            <a:avLst/>
          </a:prstGeom>
          <a:noFill/>
          <a:ln/>
        </p:spPr>
        <p:txBody>
          <a:bodyPr wrap="square" lIns="0" tIns="0" rIns="0" bIns="0" rtlCol="0" anchor="ctr"/>
          <a:lstStyle/>
          <a:p>
            <a:pPr indent="0" marL="0">
              <a:buNone/>
            </a:pPr>
            <a:r>
              <a:rPr lang="en-US" sz="1000" dirty="0">
                <a:solidFill>
                  <a:srgbClr val="9AA9B4"/>
                </a:solidFill>
                <a:latin typeface="Calibri" pitchFamily="34" charset="0"/>
                <a:ea typeface="Calibri" pitchFamily="34" charset="-122"/>
                <a:cs typeface="Calibri" pitchFamily="34" charset="-120"/>
              </a:rPr>
              <a:t>www.blindsystems.org  ·  CyclopeGEN 3</a:t>
            </a:r>
            <a:endParaRPr lang="en-US" sz="1000" dirty="0"/>
          </a:p>
        </p:txBody>
      </p:sp>
      <p:sp>
        <p:nvSpPr>
          <p:cNvPr id="6" name="Text 3"/>
          <p:cNvSpPr txBox="1"/>
          <p:nvPr/>
        </p:nvSpPr>
        <p:spPr>
          <a:xfrm>
            <a:off x="9418320" y="6327648"/>
            <a:ext cx="822960" cy="292608"/>
          </a:xfrm>
          <a:prstGeom prst="rect">
            <a:avLst/>
          </a:prstGeom>
          <a:noFill/>
          <a:ln/>
        </p:spPr>
        <p:txBody>
          <a:bodyPr wrap="square" lIns="0" tIns="0" rIns="0" bIns="0" rtlCol="0" anchor="ctr"/>
          <a:lstStyle/>
          <a:p>
            <a:pPr algn="r" indent="0" marL="0">
              <a:buNone/>
            </a:pPr>
            <a:r>
              <a:rPr lang="en-US" sz="1000" b="1" dirty="0">
                <a:solidFill>
                  <a:srgbClr val="9AA9B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BLIND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CyclopeGEN 3</dc:title>
  <dc:subject>PptxGenJS Presentation</dc:subject>
  <dc:creator>Amine Khettat</dc:creator>
  <cp:lastModifiedBy>Amine Khettat</cp:lastModifiedBy>
  <cp:revision>1</cp:revision>
  <dcterms:created xsi:type="dcterms:W3CDTF">2026-08-31T18:37:50Z</dcterms:created>
  <dcterms:modified xsi:type="dcterms:W3CDTF">2026-08-31T18:37:50Z</dcterms:modified>
</cp:coreProperties>
</file>